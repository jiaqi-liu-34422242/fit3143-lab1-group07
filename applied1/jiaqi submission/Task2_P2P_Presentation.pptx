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Task 2: the final architecture is hybrid MPI/OpenMP. Charging nodes are single-threaded MPI ranks; each base rank additionally uses four OpenMP threads to search its regional cache, under MPI_THREAD_FUNNELED so only the master thread touches MPI. The operational protocol is point-to-point — MPI_Bcast and MPI_Barrier are used only for startup configuration and end-of-round synchronisation. I will walk through the rank layout, both required diagrams, the message catalogue, the correctness rules, and the API-compliance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three-plane topology as Task 1, but every plane is now built from operations taught explicitly in Applied Week 5, and each base additionally runs OpenMP internally for its own candidate search. This is a deliberate scope decision: it keeps the report and Q&amp;A defensible against 'why did you use an API we were never taught', while still using shared-memory parallelism where it actually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ranks are 0..S-1, node ranks are S..S+N-1 — no MPI_Comm_split, no sub-communicators. A node's logical neighbours come from nodeIndex = rank - S, then row/column division and boundary checks — mathematically identical to what MPI_Cart_shift would return, just computed directly. Physically: four 32-core hosts, one per region, 20 active cores each (16 single-threaded node ranks + 1 base rank with 4 OpenMP threads) against a packed minimum of 3 hosts — chosen to keep node-to-base traffic inside a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ChargingNode owns ports[P] locally; modelling each port as its own MPI rank would inflate the process count from N+S to roughly NP+S with no useful distributed communication. Topology.getLogicalNeighbours() is rank arithmetic, not a Cartesian communicator query. BaseStation.searchRegionalCacheParallel() is the OpenMP step — four threads scan disjoint parts of the regional cache before findRegionalCandidate() merges the result. DistancePolicy is the deterministic tie-break every base applies locally when comparing candidate vectors received from other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phases. Phase 2's fixed query-intent record is the key deadlock-safety idea: even a non-heavy neighbour still sends a small active=false record, so every node posts a known, finite number of receives and never waits indefinitely. Phase 4 replaces MPI_Allgather/Allgatherv with two rounds of direct Isend/Irecv/Waitall: first exchange counts, then exchange exactly-sized batches — this is what keeps every receive buffer a known size without a collective. In Phase 5, 'compute regional candidates' is where each base's four OpenMP threads scan disjoint chunks of its regional cache in parallel and the master thread merges them; only then does the master thread exchange candidate batches with other bases and compare locally instead of calling MPI_Allreduce with MPI_MINLOC.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direct evidence that the message-passing protocol matches every communication requirement in the specification without omissions, and that every business message resolves to a named, taught MPI primitive. BASE_ALERT_COUNT then ALERT_BATCH is the two-phase substitute for Allgather/Allgatherv; CANDIDATE_BATCH is the substitute for the MINLOC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for Q&amp;A defensibility. The two hazards designed against: an endless wait on a conditional receive (solved by the fixed query-intent record — rule 1/2), and a variable-size collective substitute going wrong (solved by exchanging counts before batches — rule 6). Every rule here maps directly to a phase in the sequence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MPI_Init_thread requesting MPI_THREAD_FUNNELED is the one addition beyond the base Applied Week 5 point-to-point list, and it is what formally guarantees only the master thread calls MPI while OpenMP workers stay on local memory. If asked in Q&amp;A why we did not use Allgatherv or MINLOC: the number of bases is deliberately small, so pairwise batched point-to-point communication is manageable, stays consistent with the logically complete base overlay, supports variable message sizes with only taught APIs, and is easier to reason about safely within this assessment's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Task 2 by handing off cleanly to whoever presents Task 3: the same message catalogue (STATUS_REPORT, QUERY, BASE_ALERT_COUNT/ALERT_BATCH, CANDIDATE_BATCH, REDIRECT) is exactly what gets timed and summed in the communication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480560"/>
            <a:ext cx="9144000" cy="54864"/>
          </a:xfrm>
          <a:prstGeom prst="rect">
            <a:avLst/>
          </a:prstGeom>
          <a:solidFill>
            <a:srgbClr val="3D8DFF"/>
          </a:solidFill>
          <a:ln/>
        </p:spPr>
      </p:sp>
      <p:sp>
        <p:nvSpPr>
          <p:cNvPr id="3" name="Text 1"/>
          <p:cNvSpPr/>
          <p:nvPr/>
        </p:nvSpPr>
        <p:spPr>
          <a:xfrm>
            <a:off x="384048" y="594360"/>
            <a:ext cx="7315200" cy="292608"/>
          </a:xfrm>
          <a:prstGeom prst="rect">
            <a:avLst/>
          </a:prstGeom>
          <a:noFill/>
          <a:ln/>
        </p:spPr>
        <p:txBody>
          <a:bodyPr wrap="square" rtlCol="0" anchor="ctr"/>
          <a:lstStyle/>
          <a:p>
            <a:pPr indent="0" marL="0">
              <a:buNone/>
            </a:pPr>
            <a:r>
              <a:rPr lang="en-US" sz="1400" b="1" dirty="0">
                <a:solidFill>
                  <a:srgbClr val="3D8DFF"/>
                </a:solidFill>
                <a:latin typeface="Helvetica Neue" pitchFamily="34" charset="0"/>
                <a:ea typeface="Helvetica Neue" pitchFamily="34" charset="-122"/>
                <a:cs typeface="Helvetica Neue" pitchFamily="34" charset="-120"/>
              </a:rPr>
              <a:t>FIT3143 · APPLIED #1 · GROUP 07</a:t>
            </a:r>
            <a:endParaRPr lang="en-US" sz="1400" dirty="0"/>
          </a:p>
        </p:txBody>
      </p:sp>
      <p:sp>
        <p:nvSpPr>
          <p:cNvPr id="4" name="Text 2"/>
          <p:cNvSpPr/>
          <p:nvPr/>
        </p:nvSpPr>
        <p:spPr>
          <a:xfrm>
            <a:off x="384048" y="1371600"/>
            <a:ext cx="8229600" cy="914400"/>
          </a:xfrm>
          <a:prstGeom prst="rect">
            <a:avLst/>
          </a:prstGeom>
          <a:noFill/>
          <a:ln/>
        </p:spPr>
        <p:txBody>
          <a:bodyPr wrap="square" rtlCol="0" anchor="ctr"/>
          <a:lstStyle/>
          <a:p>
            <a:pPr indent="0" marL="0">
              <a:buNone/>
            </a:pPr>
            <a:r>
              <a:rPr lang="en-US" sz="4200" b="1" dirty="0">
                <a:solidFill>
                  <a:srgbClr val="1A1D21"/>
                </a:solidFill>
                <a:latin typeface="Helvetica Neue" pitchFamily="34" charset="0"/>
                <a:ea typeface="Helvetica Neue" pitchFamily="34" charset="-122"/>
                <a:cs typeface="Helvetica Neue" pitchFamily="34" charset="-120"/>
              </a:rPr>
              <a:t>Task 2 — Architecture Design</a:t>
            </a:r>
            <a:endParaRPr lang="en-US" sz="4200" dirty="0"/>
          </a:p>
        </p:txBody>
      </p:sp>
      <p:sp>
        <p:nvSpPr>
          <p:cNvPr id="5" name="Text 3"/>
          <p:cNvSpPr/>
          <p:nvPr/>
        </p:nvSpPr>
        <p:spPr>
          <a:xfrm>
            <a:off x="384048" y="2331720"/>
            <a:ext cx="8046720" cy="457200"/>
          </a:xfrm>
          <a:prstGeom prst="rect">
            <a:avLst/>
          </a:prstGeom>
          <a:noFill/>
          <a:ln/>
        </p:spPr>
        <p:txBody>
          <a:bodyPr wrap="square" rtlCol="0" anchor="ctr"/>
          <a:lstStyle/>
          <a:p>
            <a:pPr indent="0" marL="0">
              <a:buNone/>
            </a:pPr>
            <a:r>
              <a:rPr lang="en-US" sz="1650" dirty="0">
                <a:solidFill>
                  <a:srgbClr val="353B42"/>
                </a:solidFill>
                <a:latin typeface="Helvetica Neue" pitchFamily="34" charset="0"/>
                <a:ea typeface="Helvetica Neue" pitchFamily="34" charset="-122"/>
                <a:cs typeface="Helvetica Neue" pitchFamily="34" charset="-120"/>
              </a:rPr>
              <a:t>Distributed EV Charging Navigation System — hybrid MPI/OpenMP, Applied Week 5 APIs only</a:t>
            </a:r>
            <a:endParaRPr lang="en-US" sz="1650" dirty="0"/>
          </a:p>
        </p:txBody>
      </p:sp>
      <p:sp>
        <p:nvSpPr>
          <p:cNvPr id="6" name="Shape 4"/>
          <p:cNvSpPr/>
          <p:nvPr/>
        </p:nvSpPr>
        <p:spPr>
          <a:xfrm>
            <a:off x="384048" y="2971800"/>
            <a:ext cx="6126480" cy="420624"/>
          </a:xfrm>
          <a:prstGeom prst="rect">
            <a:avLst/>
          </a:prstGeom>
          <a:solidFill>
            <a:srgbClr val="D0EDFA"/>
          </a:solidFill>
          <a:ln w="12700">
            <a:solidFill>
              <a:srgbClr val="3D8DFF"/>
            </a:solidFill>
            <a:prstDash val="solid"/>
          </a:ln>
        </p:spPr>
      </p:sp>
      <p:sp>
        <p:nvSpPr>
          <p:cNvPr id="7" name="Text 5"/>
          <p:cNvSpPr/>
          <p:nvPr/>
        </p:nvSpPr>
        <p:spPr>
          <a:xfrm>
            <a:off x="521208" y="2971800"/>
            <a:ext cx="5852160" cy="420624"/>
          </a:xfrm>
          <a:prstGeom prst="rect">
            <a:avLst/>
          </a:prstGeom>
          <a:noFill/>
          <a:ln/>
        </p:spPr>
        <p:txBody>
          <a:bodyPr wrap="square" rtlCol="0" anchor="ctr"/>
          <a:lstStyle/>
          <a:p>
            <a:pPr indent="0" marL="0">
              <a:buNone/>
            </a:pPr>
            <a:r>
              <a:rPr lang="en-US" sz="1100" b="1" dirty="0">
                <a:solidFill>
                  <a:srgbClr val="1A1D21"/>
                </a:solidFill>
                <a:latin typeface="Helvetica Neue" pitchFamily="34" charset="0"/>
                <a:ea typeface="Helvetica Neue" pitchFamily="34" charset="-122"/>
                <a:cs typeface="Helvetica Neue" pitchFamily="34" charset="-120"/>
              </a:rPr>
              <a:t>Point-to-point operational protocol; MPI_Bcast and MPI_Barrier only for setup/sync; OpenMP inside each base</a:t>
            </a:r>
            <a:endParaRPr lang="en-US" sz="1100" dirty="0"/>
          </a:p>
        </p:txBody>
      </p:sp>
      <p:sp>
        <p:nvSpPr>
          <p:cNvPr id="8" name="Text 6"/>
          <p:cNvSpPr/>
          <p:nvPr/>
        </p:nvSpPr>
        <p:spPr>
          <a:xfrm>
            <a:off x="384048" y="4069080"/>
            <a:ext cx="5486400" cy="320040"/>
          </a:xfrm>
          <a:prstGeom prst="rect">
            <a:avLst/>
          </a:prstGeom>
          <a:noFill/>
          <a:ln/>
        </p:spPr>
        <p:txBody>
          <a:bodyPr wrap="square" rtlCol="0" anchor="ctr"/>
          <a:lstStyle/>
          <a:p>
            <a:pPr indent="0" marL="0">
              <a:buNone/>
            </a:pPr>
            <a:r>
              <a:rPr lang="en-US" sz="1400" i="1" dirty="0">
                <a:solidFill>
                  <a:srgbClr val="687078"/>
                </a:solidFill>
                <a:latin typeface="Helvetica Neue" pitchFamily="34" charset="0"/>
                <a:ea typeface="Helvetica Neue" pitchFamily="34" charset="-122"/>
                <a:cs typeface="Helvetica Neue" pitchFamily="34" charset="-120"/>
              </a:rPr>
              <a:t>Presented by Jiaqi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56032"/>
            <a:ext cx="8375904" cy="237744"/>
          </a:xfrm>
          <a:prstGeom prst="rect">
            <a:avLst/>
          </a:prstGeom>
          <a:noFill/>
          <a:ln/>
        </p:spPr>
        <p:txBody>
          <a:bodyPr wrap="square" rtlCol="0" anchor="ctr"/>
          <a:lstStyle/>
          <a:p>
            <a:pPr indent="0" marL="0">
              <a:buNone/>
            </a:pPr>
            <a:r>
              <a:rPr lang="en-US" sz="1200" b="1" spc="100" kern="0" dirty="0">
                <a:solidFill>
                  <a:srgbClr val="3D8DFF"/>
                </a:solidFill>
                <a:latin typeface="Helvetica Neue" pitchFamily="34" charset="0"/>
                <a:ea typeface="Helvetica Neue" pitchFamily="34" charset="-122"/>
                <a:cs typeface="Helvetica Neue" pitchFamily="34" charset="-120"/>
              </a:rPr>
              <a:t>TASK 2 · ARCHITECTURE DESIGN</a:t>
            </a:r>
            <a:endParaRPr lang="en-US" sz="1200" dirty="0"/>
          </a:p>
        </p:txBody>
      </p:sp>
      <p:sp>
        <p:nvSpPr>
          <p:cNvPr id="3" name="Text 1"/>
          <p:cNvSpPr/>
          <p:nvPr/>
        </p:nvSpPr>
        <p:spPr>
          <a:xfrm>
            <a:off x="384048" y="475488"/>
            <a:ext cx="8375904" cy="566928"/>
          </a:xfrm>
          <a:prstGeom prst="rect">
            <a:avLst/>
          </a:prstGeom>
          <a:noFill/>
          <a:ln/>
        </p:spPr>
        <p:txBody>
          <a:bodyPr wrap="square" rtlCol="0" anchor="ctr"/>
          <a:lstStyle/>
          <a:p>
            <a:pPr indent="0" marL="0">
              <a:buNone/>
            </a:pPr>
            <a:r>
              <a:rPr lang="en-US" sz="2500" b="1" dirty="0">
                <a:solidFill>
                  <a:srgbClr val="1A1D21"/>
                </a:solidFill>
                <a:latin typeface="Helvetica Neue" pitchFamily="34" charset="0"/>
                <a:ea typeface="Helvetica Neue" pitchFamily="34" charset="-122"/>
                <a:cs typeface="Helvetica Neue" pitchFamily="34" charset="-120"/>
              </a:rPr>
              <a:t>One MPI rank per station, hybrid MPI/OpenMP</a:t>
            </a:r>
            <a:endParaRPr lang="en-US" sz="2500" dirty="0"/>
          </a:p>
        </p:txBody>
      </p:sp>
      <p:sp>
        <p:nvSpPr>
          <p:cNvPr id="4" name="Text 2"/>
          <p:cNvSpPr/>
          <p:nvPr/>
        </p:nvSpPr>
        <p:spPr>
          <a:xfrm>
            <a:off x="384048" y="969264"/>
            <a:ext cx="8375904" cy="274320"/>
          </a:xfrm>
          <a:prstGeom prst="rect">
            <a:avLst/>
          </a:prstGeom>
          <a:noFill/>
          <a:ln/>
        </p:spPr>
        <p:txBody>
          <a:bodyPr wrap="square" rtlCol="0" anchor="ctr"/>
          <a:lstStyle/>
          <a:p>
            <a:pPr indent="0" marL="0">
              <a:buNone/>
            </a:pPr>
            <a:r>
              <a:rPr lang="en-US" sz="1250" dirty="0">
                <a:solidFill>
                  <a:srgbClr val="687078"/>
                </a:solidFill>
                <a:latin typeface="Helvetica Neue" pitchFamily="34" charset="0"/>
                <a:ea typeface="Helvetica Neue" pitchFamily="34" charset="-122"/>
                <a:cs typeface="Helvetica Neue" pitchFamily="34" charset="-120"/>
              </a:rPr>
              <a:t>The logical topology is preserved without any MPI helper API beyond Applied Week 5.</a:t>
            </a:r>
            <a:endParaRPr lang="en-US" sz="1250" dirty="0"/>
          </a:p>
        </p:txBody>
      </p:sp>
      <p:sp>
        <p:nvSpPr>
          <p:cNvPr id="5" name="Shape 3"/>
          <p:cNvSpPr/>
          <p:nvPr/>
        </p:nvSpPr>
        <p:spPr>
          <a:xfrm>
            <a:off x="384048" y="1261872"/>
            <a:ext cx="8375904" cy="0"/>
          </a:xfrm>
          <a:prstGeom prst="line">
            <a:avLst/>
          </a:prstGeom>
          <a:noFill/>
          <a:ln w="12700">
            <a:solidFill>
              <a:srgbClr val="B8BCC4"/>
            </a:solidFill>
            <a:prstDash val="solid"/>
          </a:ln>
        </p:spPr>
      </p:sp>
      <p:sp>
        <p:nvSpPr>
          <p:cNvPr id="6" name="Text 4"/>
          <p:cNvSpPr/>
          <p:nvPr/>
        </p:nvSpPr>
        <p:spPr>
          <a:xfrm>
            <a:off x="8595360" y="4864608"/>
            <a:ext cx="365760" cy="219456"/>
          </a:xfrm>
          <a:prstGeom prst="rect">
            <a:avLst/>
          </a:prstGeom>
          <a:noFill/>
          <a:ln/>
        </p:spPr>
        <p:txBody>
          <a:bodyPr wrap="square" rtlCol="0" anchor="ctr"/>
          <a:lstStyle/>
          <a:p>
            <a:pPr algn="r" indent="0" marL="0">
              <a:buNone/>
            </a:pPr>
            <a:r>
              <a:rPr lang="en-US" sz="1000" dirty="0">
                <a:solidFill>
                  <a:srgbClr val="687078"/>
                </a:solidFill>
                <a:latin typeface="Helvetica Neue" pitchFamily="34" charset="0"/>
                <a:ea typeface="Helvetica Neue" pitchFamily="34" charset="-122"/>
                <a:cs typeface="Helvetica Neue" pitchFamily="34" charset="-120"/>
              </a:rPr>
              <a:t>2</a:t>
            </a:r>
            <a:endParaRPr lang="en-US" sz="1000" dirty="0"/>
          </a:p>
        </p:txBody>
      </p:sp>
      <p:sp>
        <p:nvSpPr>
          <p:cNvPr id="7" name="Text 5"/>
          <p:cNvSpPr/>
          <p:nvPr/>
        </p:nvSpPr>
        <p:spPr>
          <a:xfrm>
            <a:off x="384048" y="1417320"/>
            <a:ext cx="8375904" cy="1005840"/>
          </a:xfrm>
          <a:prstGeom prst="rect">
            <a:avLst/>
          </a:prstGeom>
          <a:noFill/>
          <a:ln/>
        </p:spPr>
        <p:txBody>
          <a:bodyPr wrap="square" rtlCol="0" anchor="ctr"/>
          <a:lstStyle/>
          <a:p>
            <a:pPr indent="0" marL="0">
              <a:lnSpc>
                <a:spcPct val="118000"/>
              </a:lnSpc>
              <a:buNone/>
            </a:pPr>
            <a:r>
              <a:rPr lang="en-US" sz="1150" b="1" dirty="0">
                <a:solidFill>
                  <a:srgbClr val="3D8DFF"/>
                </a:solidFill>
                <a:latin typeface="Helvetica Neue" pitchFamily="34" charset="0"/>
                <a:ea typeface="Helvetica Neue" pitchFamily="34" charset="-122"/>
                <a:cs typeface="Helvetica Neue" pitchFamily="34" charset="-120"/>
              </a:rPr>
              <a:t>Hybrid MPI/OpenMP </a:t>
            </a:r>
            <a:pPr indent="0" marL="0">
              <a:lnSpc>
                <a:spcPct val="118000"/>
              </a:lnSpc>
              <a:buNone/>
            </a:pPr>
            <a:r>
              <a:rPr lang="en-US" sz="1150" dirty="0">
                <a:solidFill>
                  <a:srgbClr val="353B42"/>
                </a:solidFill>
                <a:latin typeface="Helvetica Neue" pitchFamily="34" charset="0"/>
                <a:ea typeface="Helvetica Neue" pitchFamily="34" charset="-122"/>
                <a:cs typeface="Helvetica Neue" pitchFamily="34" charset="-120"/>
              </a:rPr>
              <a:t>— node ranks are single-threaded; each base uses 4 OpenMP threads for local candidate search (MPI_THREAD_FUNNELED).
</a:t>
            </a:r>
            <a:pPr indent="0" marL="0">
              <a:lnSpc>
                <a:spcPct val="118000"/>
              </a:lnSpc>
              <a:buNone/>
            </a:pPr>
            <a:r>
              <a:rPr lang="en-US" sz="1150" b="1" dirty="0">
                <a:solidFill>
                  <a:srgbClr val="1B8F72"/>
                </a:solidFill>
                <a:latin typeface="Helvetica Neue" pitchFamily="34" charset="0"/>
                <a:ea typeface="Helvetica Neue" pitchFamily="34" charset="-122"/>
                <a:cs typeface="Helvetica Neue" pitchFamily="34" charset="-120"/>
              </a:rPr>
              <a:t>All operational traffic is point-to-point </a:t>
            </a:r>
            <a:pPr indent="0" marL="0">
              <a:lnSpc>
                <a:spcPct val="118000"/>
              </a:lnSpc>
              <a:buNone/>
            </a:pPr>
            <a:r>
              <a:rPr lang="en-US" sz="1150" dirty="0">
                <a:solidFill>
                  <a:srgbClr val="353B42"/>
                </a:solidFill>
                <a:latin typeface="Helvetica Neue" pitchFamily="34" charset="0"/>
                <a:ea typeface="Helvetica Neue" pitchFamily="34" charset="-122"/>
                <a:cs typeface="Helvetica Neue" pitchFamily="34" charset="-120"/>
              </a:rPr>
              <a:t>— only CONFIG_BCAST and ROUND_SYNC use the two collectives shown.
</a:t>
            </a:r>
            <a:pPr indent="0" marL="0">
              <a:lnSpc>
                <a:spcPct val="118000"/>
              </a:lnSpc>
              <a:buNone/>
            </a:pPr>
            <a:r>
              <a:rPr lang="en-US" sz="1150" b="1" dirty="0">
                <a:solidFill>
                  <a:srgbClr val="C77700"/>
                </a:solidFill>
                <a:latin typeface="Helvetica Neue" pitchFamily="34" charset="0"/>
                <a:ea typeface="Helvetica Neue" pitchFamily="34" charset="-122"/>
                <a:cs typeface="Helvetica Neue" pitchFamily="34" charset="-120"/>
              </a:rPr>
              <a:t>No MPI_Cart_create, Comm_split, Allgatherv or MINLOC </a:t>
            </a:r>
            <a:pPr indent="0" marL="0">
              <a:lnSpc>
                <a:spcPct val="118000"/>
              </a:lnSpc>
              <a:buNone/>
            </a:pPr>
            <a:r>
              <a:rPr lang="en-US" sz="1150" dirty="0">
                <a:solidFill>
                  <a:srgbClr val="353B42"/>
                </a:solidFill>
                <a:latin typeface="Helvetica Neue" pitchFamily="34" charset="0"/>
                <a:ea typeface="Helvetica Neue" pitchFamily="34" charset="-122"/>
                <a:cs typeface="Helvetica Neue" pitchFamily="34" charset="-120"/>
              </a:rPr>
              <a:t>— replaced by rank arithmetic and a two-phase p2p exchange.</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84048" y="2514600"/>
          <a:ext cx="8375904" cy="1554480"/>
        </p:xfrm>
        <a:graphic>
          <a:graphicData uri="http://schemas.openxmlformats.org/drawingml/2006/table">
            <a:tbl>
              <a:tblPr/>
              <a:tblGrid>
                <a:gridCol w="1554480"/>
                <a:gridCol w="1737360"/>
                <a:gridCol w="2606040"/>
                <a:gridCol w="2423160"/>
              </a:tblGrid>
              <a:tr h="388620">
                <a:tc>
                  <a:txBody>
                    <a:bodyPr/>
                    <a:lstStyle/>
                    <a:p>
                      <a:pPr indent="0" marL="0">
                        <a:buNone/>
                      </a:pPr>
                      <a:r>
                        <a:rPr lang="en-US" sz="1100" b="1" dirty="0">
                          <a:solidFill>
                            <a:srgbClr val="FFFFFF"/>
                          </a:solidFill>
                          <a:latin typeface="Helvetica Neue" pitchFamily="34" charset="0"/>
                          <a:ea typeface="Helvetica Neue" pitchFamily="34" charset="-122"/>
                          <a:cs typeface="Helvetica Neue" pitchFamily="34" charset="-120"/>
                        </a:rPr>
                        <a:t>Plane</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c>
                  <a:txBody>
                    <a:bodyPr/>
                    <a:lstStyle/>
                    <a:p>
                      <a:pPr indent="0" marL="0">
                        <a:buNone/>
                      </a:pPr>
                      <a:r>
                        <a:rPr lang="en-US" sz="1100" b="1" dirty="0">
                          <a:solidFill>
                            <a:srgbClr val="FFFFFF"/>
                          </a:solidFill>
                          <a:latin typeface="Helvetica Neue" pitchFamily="34" charset="0"/>
                          <a:ea typeface="Helvetica Neue" pitchFamily="34" charset="-122"/>
                          <a:cs typeface="Helvetica Neue" pitchFamily="34" charset="-120"/>
                        </a:rPr>
                        <a:t>Participants</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c>
                  <a:txBody>
                    <a:bodyPr/>
                    <a:lstStyle/>
                    <a:p>
                      <a:pPr indent="0" marL="0">
                        <a:buNone/>
                      </a:pPr>
                      <a:r>
                        <a:rPr lang="en-US" sz="1100" b="1" dirty="0">
                          <a:solidFill>
                            <a:srgbClr val="FFFFFF"/>
                          </a:solidFill>
                          <a:latin typeface="Helvetica Neue" pitchFamily="34" charset="0"/>
                          <a:ea typeface="Helvetica Neue" pitchFamily="34" charset="-122"/>
                          <a:cs typeface="Helvetica Neue" pitchFamily="34" charset="-120"/>
                        </a:rPr>
                        <a:t>Logical topology</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c>
                  <a:txBody>
                    <a:bodyPr/>
                    <a:lstStyle/>
                    <a:p>
                      <a:pPr indent="0" marL="0">
                        <a:buNone/>
                      </a:pPr>
                      <a:r>
                        <a:rPr lang="en-US" sz="1100" b="1" dirty="0">
                          <a:solidFill>
                            <a:srgbClr val="FFFFFF"/>
                          </a:solidFill>
                          <a:latin typeface="Helvetica Neue" pitchFamily="34" charset="0"/>
                          <a:ea typeface="Helvetica Neue" pitchFamily="34" charset="-122"/>
                          <a:cs typeface="Helvetica Neue" pitchFamily="34" charset="-120"/>
                        </a:rPr>
                        <a:t>Purpose</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r>
              <a:tr h="388620">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Local sensing</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node ↔ node</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non-periodic 2-D mesh via rank arithmetic</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Confirm source + all valid neighbours are heavily utilised</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388620">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Regional reporting</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node ↔ assigned base</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forest of regional stars</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Send status/alerts to the base owning the source region</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388620">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Global control</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base ↔ base</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complete overlay, MPI_COMM_WORLD p2p</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1100" dirty="0">
                          <a:solidFill>
                            <a:srgbClr val="353B42"/>
                          </a:solidFill>
                          <a:latin typeface="Helvetica Neue" pitchFamily="34" charset="0"/>
                          <a:ea typeface="Helvetica Neue" pitchFamily="34" charset="-122"/>
                          <a:cs typeface="Helvetica Neue" pitchFamily="34" charset="-120"/>
                        </a:rPr>
                        <a:t>Share alerts, select globally closest available candidate</a:t>
                      </a:r>
                      <a:endParaRPr lang="en-US" sz="110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bl>
          </a:graphicData>
        </a:graphic>
      </p:graphicFrame>
      <p:sp>
        <p:nvSpPr>
          <p:cNvPr id="9" name="Shape 6"/>
          <p:cNvSpPr/>
          <p:nvPr/>
        </p:nvSpPr>
        <p:spPr>
          <a:xfrm>
            <a:off x="384048" y="4206240"/>
            <a:ext cx="8375904" cy="502920"/>
          </a:xfrm>
          <a:prstGeom prst="rect">
            <a:avLst/>
          </a:prstGeom>
          <a:solidFill>
            <a:srgbClr val="D0EDFA"/>
          </a:solidFill>
          <a:ln w="12700">
            <a:solidFill>
              <a:srgbClr val="3D8DFF"/>
            </a:solidFill>
            <a:prstDash val="solid"/>
          </a:ln>
        </p:spPr>
      </p:sp>
      <p:sp>
        <p:nvSpPr>
          <p:cNvPr id="10" name="Text 7"/>
          <p:cNvSpPr/>
          <p:nvPr/>
        </p:nvSpPr>
        <p:spPr>
          <a:xfrm>
            <a:off x="521208" y="4206240"/>
            <a:ext cx="8101584" cy="502920"/>
          </a:xfrm>
          <a:prstGeom prst="rect">
            <a:avLst/>
          </a:prstGeom>
          <a:noFill/>
          <a:ln/>
        </p:spPr>
        <p:txBody>
          <a:bodyPr wrap="square" rtlCol="0" anchor="ctr"/>
          <a:lstStyle/>
          <a:p>
            <a:pPr indent="0" marL="0">
              <a:buNone/>
            </a:pPr>
            <a:r>
              <a:rPr lang="en-US" sz="1150" b="1" dirty="0">
                <a:solidFill>
                  <a:srgbClr val="1A1D21"/>
                </a:solidFill>
                <a:latin typeface="Helvetica Neue" pitchFamily="34" charset="0"/>
                <a:ea typeface="Helvetica Neue" pitchFamily="34" charset="-122"/>
                <a:cs typeface="Helvetica Neue" pitchFamily="34" charset="-120"/>
              </a:rPr>
              <a:t>The logical topology does not depend on the MPI helper APIs used to build it — rank arithmetic gives the same neighbour relationships as MPI_Cart_shift.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56032"/>
            <a:ext cx="8375904" cy="237744"/>
          </a:xfrm>
          <a:prstGeom prst="rect">
            <a:avLst/>
          </a:prstGeom>
          <a:noFill/>
          <a:ln/>
        </p:spPr>
        <p:txBody>
          <a:bodyPr wrap="square" rtlCol="0" anchor="ctr"/>
          <a:lstStyle/>
          <a:p>
            <a:pPr indent="0" marL="0">
              <a:buNone/>
            </a:pPr>
            <a:r>
              <a:rPr lang="en-US" sz="1200" b="1" spc="100" kern="0" dirty="0">
                <a:solidFill>
                  <a:srgbClr val="3D8DFF"/>
                </a:solidFill>
                <a:latin typeface="Helvetica Neue" pitchFamily="34" charset="0"/>
                <a:ea typeface="Helvetica Neue" pitchFamily="34" charset="-122"/>
                <a:cs typeface="Helvetica Neue" pitchFamily="34" charset="-120"/>
              </a:rPr>
              <a:t>TASK 2 · ARCHITECTURE DESIGN</a:t>
            </a:r>
            <a:endParaRPr lang="en-US" sz="1200" dirty="0"/>
          </a:p>
        </p:txBody>
      </p:sp>
      <p:sp>
        <p:nvSpPr>
          <p:cNvPr id="3" name="Text 1"/>
          <p:cNvSpPr/>
          <p:nvPr/>
        </p:nvSpPr>
        <p:spPr>
          <a:xfrm>
            <a:off x="384048" y="475488"/>
            <a:ext cx="8375904" cy="566928"/>
          </a:xfrm>
          <a:prstGeom prst="rect">
            <a:avLst/>
          </a:prstGeom>
          <a:noFill/>
          <a:ln/>
        </p:spPr>
        <p:txBody>
          <a:bodyPr wrap="square" rtlCol="0" anchor="ctr"/>
          <a:lstStyle/>
          <a:p>
            <a:pPr indent="0" marL="0">
              <a:buNone/>
            </a:pPr>
            <a:r>
              <a:rPr lang="en-US" sz="2500" b="1" dirty="0">
                <a:solidFill>
                  <a:srgbClr val="1A1D21"/>
                </a:solidFill>
                <a:latin typeface="Helvetica Neue" pitchFamily="34" charset="0"/>
                <a:ea typeface="Helvetica Neue" pitchFamily="34" charset="-122"/>
                <a:cs typeface="Helvetica Neue" pitchFamily="34" charset="-120"/>
              </a:rPr>
              <a:t>Rank layout and cluster deployment</a:t>
            </a:r>
            <a:endParaRPr lang="en-US" sz="2500" dirty="0"/>
          </a:p>
        </p:txBody>
      </p:sp>
      <p:sp>
        <p:nvSpPr>
          <p:cNvPr id="4" name="Text 2"/>
          <p:cNvSpPr/>
          <p:nvPr/>
        </p:nvSpPr>
        <p:spPr>
          <a:xfrm>
            <a:off x="384048" y="969264"/>
            <a:ext cx="8375904" cy="274320"/>
          </a:xfrm>
          <a:prstGeom prst="rect">
            <a:avLst/>
          </a:prstGeom>
          <a:noFill/>
          <a:ln/>
        </p:spPr>
        <p:txBody>
          <a:bodyPr wrap="square" rtlCol="0" anchor="ctr"/>
          <a:lstStyle/>
          <a:p>
            <a:pPr indent="0" marL="0">
              <a:buNone/>
            </a:pPr>
            <a:r>
              <a:rPr lang="en-US" sz="1250" dirty="0">
                <a:solidFill>
                  <a:srgbClr val="687078"/>
                </a:solidFill>
                <a:latin typeface="Helvetica Neue" pitchFamily="34" charset="0"/>
                <a:ea typeface="Helvetica Neue" pitchFamily="34" charset="-122"/>
                <a:cs typeface="Helvetica Neue" pitchFamily="34" charset="-120"/>
              </a:rPr>
              <a:t>One flat MPI_COMM_WORLD; four hosts align with four regions.</a:t>
            </a:r>
            <a:endParaRPr lang="en-US" sz="1250" dirty="0"/>
          </a:p>
        </p:txBody>
      </p:sp>
      <p:sp>
        <p:nvSpPr>
          <p:cNvPr id="5" name="Shape 3"/>
          <p:cNvSpPr/>
          <p:nvPr/>
        </p:nvSpPr>
        <p:spPr>
          <a:xfrm>
            <a:off x="384048" y="1261872"/>
            <a:ext cx="8375904" cy="0"/>
          </a:xfrm>
          <a:prstGeom prst="line">
            <a:avLst/>
          </a:prstGeom>
          <a:noFill/>
          <a:ln w="12700">
            <a:solidFill>
              <a:srgbClr val="B8BCC4"/>
            </a:solidFill>
            <a:prstDash val="solid"/>
          </a:ln>
        </p:spPr>
      </p:sp>
      <p:sp>
        <p:nvSpPr>
          <p:cNvPr id="6" name="Text 4"/>
          <p:cNvSpPr/>
          <p:nvPr/>
        </p:nvSpPr>
        <p:spPr>
          <a:xfrm>
            <a:off x="8595360" y="4864608"/>
            <a:ext cx="365760" cy="219456"/>
          </a:xfrm>
          <a:prstGeom prst="rect">
            <a:avLst/>
          </a:prstGeom>
          <a:noFill/>
          <a:ln/>
        </p:spPr>
        <p:txBody>
          <a:bodyPr wrap="square" rtlCol="0" anchor="ctr"/>
          <a:lstStyle/>
          <a:p>
            <a:pPr algn="r" indent="0" marL="0">
              <a:buNone/>
            </a:pPr>
            <a:r>
              <a:rPr lang="en-US" sz="1000" dirty="0">
                <a:solidFill>
                  <a:srgbClr val="687078"/>
                </a:solidFill>
                <a:latin typeface="Helvetica Neue" pitchFamily="34" charset="0"/>
                <a:ea typeface="Helvetica Neue" pitchFamily="34" charset="-122"/>
                <a:cs typeface="Helvetica Neue" pitchFamily="34" charset="-120"/>
              </a:rPr>
              <a:t>3</a:t>
            </a:r>
            <a:endParaRPr lang="en-US" sz="1000" dirty="0"/>
          </a:p>
        </p:txBody>
      </p:sp>
      <p:pic>
        <p:nvPicPr>
          <p:cNvPr id="7" name="Image 0" descr="/Users/liujiaqi/Documents/FIT3143/lab01/group07/applied1/figures/task2-p2p-deployment-diagram.png">    </p:cNvPr>
          <p:cNvPicPr>
            <a:picLocks noChangeAspect="1"/>
          </p:cNvPicPr>
          <p:nvPr/>
        </p:nvPicPr>
        <p:blipFill>
          <a:blip r:embed="rId1"/>
          <a:stretch>
            <a:fillRect/>
          </a:stretch>
        </p:blipFill>
        <p:spPr>
          <a:xfrm>
            <a:off x="457200" y="1417320"/>
            <a:ext cx="8229600" cy="3429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56032"/>
            <a:ext cx="8375904" cy="237744"/>
          </a:xfrm>
          <a:prstGeom prst="rect">
            <a:avLst/>
          </a:prstGeom>
          <a:noFill/>
          <a:ln/>
        </p:spPr>
        <p:txBody>
          <a:bodyPr wrap="square" rtlCol="0" anchor="ctr"/>
          <a:lstStyle/>
          <a:p>
            <a:pPr indent="0" marL="0">
              <a:buNone/>
            </a:pPr>
            <a:r>
              <a:rPr lang="en-US" sz="1200" b="1" spc="100" kern="0" dirty="0">
                <a:solidFill>
                  <a:srgbClr val="3D8DFF"/>
                </a:solidFill>
                <a:latin typeface="Helvetica Neue" pitchFamily="34" charset="0"/>
                <a:ea typeface="Helvetica Neue" pitchFamily="34" charset="-122"/>
                <a:cs typeface="Helvetica Neue" pitchFamily="34" charset="-120"/>
              </a:rPr>
              <a:t>TASK 2 · REQUIRED DIAGRAM 1 OF 2</a:t>
            </a:r>
            <a:endParaRPr lang="en-US" sz="1200" dirty="0"/>
          </a:p>
        </p:txBody>
      </p:sp>
      <p:sp>
        <p:nvSpPr>
          <p:cNvPr id="3" name="Text 1"/>
          <p:cNvSpPr/>
          <p:nvPr/>
        </p:nvSpPr>
        <p:spPr>
          <a:xfrm>
            <a:off x="384048" y="475488"/>
            <a:ext cx="8375904" cy="566928"/>
          </a:xfrm>
          <a:prstGeom prst="rect">
            <a:avLst/>
          </a:prstGeom>
          <a:noFill/>
          <a:ln/>
        </p:spPr>
        <p:txBody>
          <a:bodyPr wrap="square" rtlCol="0" anchor="ctr"/>
          <a:lstStyle/>
          <a:p>
            <a:pPr indent="0" marL="0">
              <a:buNone/>
            </a:pPr>
            <a:r>
              <a:rPr lang="en-US" sz="2500" b="1" dirty="0">
                <a:solidFill>
                  <a:srgbClr val="1A1D21"/>
                </a:solidFill>
                <a:latin typeface="Helvetica Neue" pitchFamily="34" charset="0"/>
                <a:ea typeface="Helvetica Neue" pitchFamily="34" charset="-122"/>
                <a:cs typeface="Helvetica Neue" pitchFamily="34" charset="-120"/>
              </a:rPr>
              <a:t>Static software structure</a:t>
            </a:r>
            <a:endParaRPr lang="en-US" sz="2500" dirty="0"/>
          </a:p>
        </p:txBody>
      </p:sp>
      <p:sp>
        <p:nvSpPr>
          <p:cNvPr id="4" name="Text 2"/>
          <p:cNvSpPr/>
          <p:nvPr/>
        </p:nvSpPr>
        <p:spPr>
          <a:xfrm>
            <a:off x="384048" y="969264"/>
            <a:ext cx="8375904" cy="274320"/>
          </a:xfrm>
          <a:prstGeom prst="rect">
            <a:avLst/>
          </a:prstGeom>
          <a:noFill/>
          <a:ln/>
        </p:spPr>
        <p:txBody>
          <a:bodyPr wrap="square" rtlCol="0" anchor="ctr"/>
          <a:lstStyle/>
          <a:p>
            <a:pPr indent="0" marL="0">
              <a:buNone/>
            </a:pPr>
            <a:r>
              <a:rPr lang="en-US" sz="1250" dirty="0">
                <a:solidFill>
                  <a:srgbClr val="687078"/>
                </a:solidFill>
                <a:latin typeface="Helvetica Neue" pitchFamily="34" charset="0"/>
                <a:ea typeface="Helvetica Neue" pitchFamily="34" charset="-122"/>
                <a:cs typeface="Helvetica Neue" pitchFamily="34" charset="-120"/>
              </a:rPr>
              <a:t>Charging ports stay local state — not a rank of their own.</a:t>
            </a:r>
            <a:endParaRPr lang="en-US" sz="1250" dirty="0"/>
          </a:p>
        </p:txBody>
      </p:sp>
      <p:sp>
        <p:nvSpPr>
          <p:cNvPr id="5" name="Shape 3"/>
          <p:cNvSpPr/>
          <p:nvPr/>
        </p:nvSpPr>
        <p:spPr>
          <a:xfrm>
            <a:off x="384048" y="1261872"/>
            <a:ext cx="8375904" cy="0"/>
          </a:xfrm>
          <a:prstGeom prst="line">
            <a:avLst/>
          </a:prstGeom>
          <a:noFill/>
          <a:ln w="12700">
            <a:solidFill>
              <a:srgbClr val="B8BCC4"/>
            </a:solidFill>
            <a:prstDash val="solid"/>
          </a:ln>
        </p:spPr>
      </p:sp>
      <p:sp>
        <p:nvSpPr>
          <p:cNvPr id="6" name="Text 4"/>
          <p:cNvSpPr/>
          <p:nvPr/>
        </p:nvSpPr>
        <p:spPr>
          <a:xfrm>
            <a:off x="8595360" y="4864608"/>
            <a:ext cx="365760" cy="219456"/>
          </a:xfrm>
          <a:prstGeom prst="rect">
            <a:avLst/>
          </a:prstGeom>
          <a:noFill/>
          <a:ln/>
        </p:spPr>
        <p:txBody>
          <a:bodyPr wrap="square" rtlCol="0" anchor="ctr"/>
          <a:lstStyle/>
          <a:p>
            <a:pPr algn="r" indent="0" marL="0">
              <a:buNone/>
            </a:pPr>
            <a:r>
              <a:rPr lang="en-US" sz="1000" dirty="0">
                <a:solidFill>
                  <a:srgbClr val="687078"/>
                </a:solidFill>
                <a:latin typeface="Helvetica Neue" pitchFamily="34" charset="0"/>
                <a:ea typeface="Helvetica Neue" pitchFamily="34" charset="-122"/>
                <a:cs typeface="Helvetica Neue" pitchFamily="34" charset="-120"/>
              </a:rPr>
              <a:t>4</a:t>
            </a:r>
            <a:endParaRPr lang="en-US" sz="1000" dirty="0"/>
          </a:p>
        </p:txBody>
      </p:sp>
      <p:pic>
        <p:nvPicPr>
          <p:cNvPr id="7" name="Image 0" descr="/Users/liujiaqi/Documents/FIT3143/lab01/group07/applied1/figures/task2-p2p-class-diagram.png">    </p:cNvPr>
          <p:cNvPicPr>
            <a:picLocks noChangeAspect="1"/>
          </p:cNvPicPr>
          <p:nvPr/>
        </p:nvPicPr>
        <p:blipFill>
          <a:blip r:embed="rId1"/>
          <a:stretch>
            <a:fillRect/>
          </a:stretch>
        </p:blipFill>
        <p:spPr>
          <a:xfrm>
            <a:off x="365760" y="1371600"/>
            <a:ext cx="8412480" cy="3520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56032"/>
            <a:ext cx="8375904" cy="237744"/>
          </a:xfrm>
          <a:prstGeom prst="rect">
            <a:avLst/>
          </a:prstGeom>
          <a:noFill/>
          <a:ln/>
        </p:spPr>
        <p:txBody>
          <a:bodyPr wrap="square" rtlCol="0" anchor="ctr"/>
          <a:lstStyle/>
          <a:p>
            <a:pPr indent="0" marL="0">
              <a:buNone/>
            </a:pPr>
            <a:r>
              <a:rPr lang="en-US" sz="1200" b="1" spc="100" kern="0" dirty="0">
                <a:solidFill>
                  <a:srgbClr val="3D8DFF"/>
                </a:solidFill>
                <a:latin typeface="Helvetica Neue" pitchFamily="34" charset="0"/>
                <a:ea typeface="Helvetica Neue" pitchFamily="34" charset="-122"/>
                <a:cs typeface="Helvetica Neue" pitchFamily="34" charset="-120"/>
              </a:rPr>
              <a:t>TASK 2 · REQUIRED DIAGRAM 2 OF 2</a:t>
            </a:r>
            <a:endParaRPr lang="en-US" sz="1200" dirty="0"/>
          </a:p>
        </p:txBody>
      </p:sp>
      <p:sp>
        <p:nvSpPr>
          <p:cNvPr id="3" name="Text 1"/>
          <p:cNvSpPr/>
          <p:nvPr/>
        </p:nvSpPr>
        <p:spPr>
          <a:xfrm>
            <a:off x="384048" y="475488"/>
            <a:ext cx="8375904" cy="566928"/>
          </a:xfrm>
          <a:prstGeom prst="rect">
            <a:avLst/>
          </a:prstGeom>
          <a:noFill/>
          <a:ln/>
        </p:spPr>
        <p:txBody>
          <a:bodyPr wrap="square" rtlCol="0" anchor="ctr"/>
          <a:lstStyle/>
          <a:p>
            <a:pPr indent="0" marL="0">
              <a:buNone/>
            </a:pPr>
            <a:r>
              <a:rPr lang="en-US" sz="2500" b="1" dirty="0">
                <a:solidFill>
                  <a:srgbClr val="1A1D21"/>
                </a:solidFill>
                <a:latin typeface="Helvetica Neue" pitchFamily="34" charset="0"/>
                <a:ea typeface="Helvetica Neue" pitchFamily="34" charset="-122"/>
                <a:cs typeface="Helvetica Neue" pitchFamily="34" charset="-120"/>
              </a:rPr>
              <a:t>Communication sequence for one round</a:t>
            </a:r>
            <a:endParaRPr lang="en-US" sz="2500" dirty="0"/>
          </a:p>
        </p:txBody>
      </p:sp>
      <p:sp>
        <p:nvSpPr>
          <p:cNvPr id="4" name="Text 2"/>
          <p:cNvSpPr/>
          <p:nvPr/>
        </p:nvSpPr>
        <p:spPr>
          <a:xfrm>
            <a:off x="384048" y="969264"/>
            <a:ext cx="8375904" cy="274320"/>
          </a:xfrm>
          <a:prstGeom prst="rect">
            <a:avLst/>
          </a:prstGeom>
          <a:noFill/>
          <a:ln/>
        </p:spPr>
        <p:txBody>
          <a:bodyPr wrap="square" rtlCol="0" anchor="ctr"/>
          <a:lstStyle/>
          <a:p>
            <a:pPr indent="0" marL="0">
              <a:buNone/>
            </a:pPr>
            <a:r>
              <a:rPr lang="en-US" sz="1250" dirty="0">
                <a:solidFill>
                  <a:srgbClr val="687078"/>
                </a:solidFill>
                <a:latin typeface="Helvetica Neue" pitchFamily="34" charset="0"/>
                <a:ea typeface="Helvetica Neue" pitchFamily="34" charset="-122"/>
                <a:cs typeface="Helvetica Neue" pitchFamily="34" charset="-120"/>
              </a:rPr>
              <a:t>Fixed completion rules for nodes; a two-phase count-then-batch exchange for bases.</a:t>
            </a:r>
            <a:endParaRPr lang="en-US" sz="1250" dirty="0"/>
          </a:p>
        </p:txBody>
      </p:sp>
      <p:sp>
        <p:nvSpPr>
          <p:cNvPr id="5" name="Shape 3"/>
          <p:cNvSpPr/>
          <p:nvPr/>
        </p:nvSpPr>
        <p:spPr>
          <a:xfrm>
            <a:off x="384048" y="1261872"/>
            <a:ext cx="8375904" cy="0"/>
          </a:xfrm>
          <a:prstGeom prst="line">
            <a:avLst/>
          </a:prstGeom>
          <a:noFill/>
          <a:ln w="12700">
            <a:solidFill>
              <a:srgbClr val="B8BCC4"/>
            </a:solidFill>
            <a:prstDash val="solid"/>
          </a:ln>
        </p:spPr>
      </p:sp>
      <p:sp>
        <p:nvSpPr>
          <p:cNvPr id="6" name="Text 4"/>
          <p:cNvSpPr/>
          <p:nvPr/>
        </p:nvSpPr>
        <p:spPr>
          <a:xfrm>
            <a:off x="8595360" y="4864608"/>
            <a:ext cx="365760" cy="219456"/>
          </a:xfrm>
          <a:prstGeom prst="rect">
            <a:avLst/>
          </a:prstGeom>
          <a:noFill/>
          <a:ln/>
        </p:spPr>
        <p:txBody>
          <a:bodyPr wrap="square" rtlCol="0" anchor="ctr"/>
          <a:lstStyle/>
          <a:p>
            <a:pPr algn="r" indent="0" marL="0">
              <a:buNone/>
            </a:pPr>
            <a:r>
              <a:rPr lang="en-US" sz="1000" dirty="0">
                <a:solidFill>
                  <a:srgbClr val="687078"/>
                </a:solidFill>
                <a:latin typeface="Helvetica Neue" pitchFamily="34" charset="0"/>
                <a:ea typeface="Helvetica Neue" pitchFamily="34" charset="-122"/>
                <a:cs typeface="Helvetica Neue" pitchFamily="34" charset="-120"/>
              </a:rPr>
              <a:t>5</a:t>
            </a:r>
            <a:endParaRPr lang="en-US" sz="1000" dirty="0"/>
          </a:p>
        </p:txBody>
      </p:sp>
      <p:pic>
        <p:nvPicPr>
          <p:cNvPr id="7" name="Image 0" descr="/Users/liujiaqi/Documents/FIT3143/lab01/group07/applied1/figures/task2-p2p-sequence-diagram.png">    </p:cNvPr>
          <p:cNvPicPr>
            <a:picLocks noChangeAspect="1"/>
          </p:cNvPicPr>
          <p:nvPr/>
        </p:nvPicPr>
        <p:blipFill>
          <a:blip r:embed="rId1"/>
          <a:stretch>
            <a:fillRect/>
          </a:stretch>
        </p:blipFill>
        <p:spPr>
          <a:xfrm>
            <a:off x="566928" y="1371600"/>
            <a:ext cx="8001000" cy="34930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56032"/>
            <a:ext cx="8375904" cy="237744"/>
          </a:xfrm>
          <a:prstGeom prst="rect">
            <a:avLst/>
          </a:prstGeom>
          <a:noFill/>
          <a:ln/>
        </p:spPr>
        <p:txBody>
          <a:bodyPr wrap="square" rtlCol="0" anchor="ctr"/>
          <a:lstStyle/>
          <a:p>
            <a:pPr indent="0" marL="0">
              <a:buNone/>
            </a:pPr>
            <a:r>
              <a:rPr lang="en-US" sz="1200" b="1" spc="100" kern="0" dirty="0">
                <a:solidFill>
                  <a:srgbClr val="3D8DFF"/>
                </a:solidFill>
                <a:latin typeface="Helvetica Neue" pitchFamily="34" charset="0"/>
                <a:ea typeface="Helvetica Neue" pitchFamily="34" charset="-122"/>
                <a:cs typeface="Helvetica Neue" pitchFamily="34" charset="-120"/>
              </a:rPr>
              <a:t>TASK 2 · ARCHITECTURE DESIGN</a:t>
            </a:r>
            <a:endParaRPr lang="en-US" sz="1200" dirty="0"/>
          </a:p>
        </p:txBody>
      </p:sp>
      <p:sp>
        <p:nvSpPr>
          <p:cNvPr id="3" name="Text 1"/>
          <p:cNvSpPr/>
          <p:nvPr/>
        </p:nvSpPr>
        <p:spPr>
          <a:xfrm>
            <a:off x="384048" y="475488"/>
            <a:ext cx="8375904" cy="566928"/>
          </a:xfrm>
          <a:prstGeom prst="rect">
            <a:avLst/>
          </a:prstGeom>
          <a:noFill/>
          <a:ln/>
        </p:spPr>
        <p:txBody>
          <a:bodyPr wrap="square" rtlCol="0" anchor="ctr"/>
          <a:lstStyle/>
          <a:p>
            <a:pPr indent="0" marL="0">
              <a:buNone/>
            </a:pPr>
            <a:r>
              <a:rPr lang="en-US" sz="2500" b="1" dirty="0">
                <a:solidFill>
                  <a:srgbClr val="1A1D21"/>
                </a:solidFill>
                <a:latin typeface="Helvetica Neue" pitchFamily="34" charset="0"/>
                <a:ea typeface="Helvetica Neue" pitchFamily="34" charset="-122"/>
                <a:cs typeface="Helvetica Neue" pitchFamily="34" charset="-120"/>
              </a:rPr>
              <a:t>Every message maps to a taught MPI operation</a:t>
            </a:r>
            <a:endParaRPr lang="en-US" sz="2500" dirty="0"/>
          </a:p>
        </p:txBody>
      </p:sp>
      <p:sp>
        <p:nvSpPr>
          <p:cNvPr id="4" name="Text 2"/>
          <p:cNvSpPr/>
          <p:nvPr/>
        </p:nvSpPr>
        <p:spPr>
          <a:xfrm>
            <a:off x="384048" y="969264"/>
            <a:ext cx="8375904" cy="274320"/>
          </a:xfrm>
          <a:prstGeom prst="rect">
            <a:avLst/>
          </a:prstGeom>
          <a:noFill/>
          <a:ln/>
        </p:spPr>
        <p:txBody>
          <a:bodyPr wrap="square" rtlCol="0" anchor="ctr"/>
          <a:lstStyle/>
          <a:p>
            <a:pPr indent="0" marL="0">
              <a:buNone/>
            </a:pPr>
            <a:r>
              <a:rPr lang="en-US" sz="1250" dirty="0">
                <a:solidFill>
                  <a:srgbClr val="687078"/>
                </a:solidFill>
                <a:latin typeface="Helvetica Neue" pitchFamily="34" charset="0"/>
                <a:ea typeface="Helvetica Neue" pitchFamily="34" charset="-122"/>
                <a:cs typeface="Helvetica Neue" pitchFamily="34" charset="-120"/>
              </a:rPr>
              <a:t>All traffic is on MPI_COMM_WORLD — no MPI_Allgatherv or MPI_MINLOC anywhere.</a:t>
            </a:r>
            <a:endParaRPr lang="en-US" sz="1250" dirty="0"/>
          </a:p>
        </p:txBody>
      </p:sp>
      <p:sp>
        <p:nvSpPr>
          <p:cNvPr id="5" name="Shape 3"/>
          <p:cNvSpPr/>
          <p:nvPr/>
        </p:nvSpPr>
        <p:spPr>
          <a:xfrm>
            <a:off x="384048" y="1261872"/>
            <a:ext cx="8375904" cy="0"/>
          </a:xfrm>
          <a:prstGeom prst="line">
            <a:avLst/>
          </a:prstGeom>
          <a:noFill/>
          <a:ln w="12700">
            <a:solidFill>
              <a:srgbClr val="B8BCC4"/>
            </a:solidFill>
            <a:prstDash val="solid"/>
          </a:ln>
        </p:spPr>
      </p:sp>
      <p:sp>
        <p:nvSpPr>
          <p:cNvPr id="6" name="Text 4"/>
          <p:cNvSpPr/>
          <p:nvPr/>
        </p:nvSpPr>
        <p:spPr>
          <a:xfrm>
            <a:off x="8595360" y="4864608"/>
            <a:ext cx="365760" cy="219456"/>
          </a:xfrm>
          <a:prstGeom prst="rect">
            <a:avLst/>
          </a:prstGeom>
          <a:noFill/>
          <a:ln/>
        </p:spPr>
        <p:txBody>
          <a:bodyPr wrap="square" rtlCol="0" anchor="ctr"/>
          <a:lstStyle/>
          <a:p>
            <a:pPr algn="r" indent="0" marL="0">
              <a:buNone/>
            </a:pPr>
            <a:r>
              <a:rPr lang="en-US" sz="1000" dirty="0">
                <a:solidFill>
                  <a:srgbClr val="687078"/>
                </a:solidFill>
                <a:latin typeface="Helvetica Neue" pitchFamily="34" charset="0"/>
                <a:ea typeface="Helvetica Neue" pitchFamily="34" charset="-122"/>
                <a:cs typeface="Helvetica Neue"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84048" y="1417320"/>
          <a:ext cx="8375904" cy="3246120"/>
        </p:xfrm>
        <a:graphic>
          <a:graphicData uri="http://schemas.openxmlformats.org/drawingml/2006/table">
            <a:tbl>
              <a:tblPr/>
              <a:tblGrid>
                <a:gridCol w="1600200"/>
                <a:gridCol w="2148840"/>
                <a:gridCol w="960120"/>
                <a:gridCol w="1874520"/>
                <a:gridCol w="1737360"/>
              </a:tblGrid>
              <a:tr h="295102">
                <a:tc>
                  <a:txBody>
                    <a:bodyPr/>
                    <a:lstStyle/>
                    <a:p>
                      <a:pPr indent="0" marL="0">
                        <a:buNone/>
                      </a:pPr>
                      <a:r>
                        <a:rPr lang="en-US" sz="930" b="1" dirty="0">
                          <a:solidFill>
                            <a:srgbClr val="FFFFFF"/>
                          </a:solidFill>
                          <a:latin typeface="Helvetica Neue" pitchFamily="34" charset="0"/>
                          <a:ea typeface="Helvetica Neue" pitchFamily="34" charset="-122"/>
                          <a:cs typeface="Helvetica Neue" pitchFamily="34" charset="-120"/>
                        </a:rPr>
                        <a:t>Message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c>
                  <a:txBody>
                    <a:bodyPr/>
                    <a:lstStyle/>
                    <a:p>
                      <a:pPr indent="0" marL="0">
                        <a:buNone/>
                      </a:pPr>
                      <a:r>
                        <a:rPr lang="en-US" sz="930" b="1" dirty="0">
                          <a:solidFill>
                            <a:srgbClr val="FFFFFF"/>
                          </a:solidFill>
                          <a:latin typeface="Helvetica Neue" pitchFamily="34" charset="0"/>
                          <a:ea typeface="Helvetica Neue" pitchFamily="34" charset="-122"/>
                          <a:cs typeface="Helvetica Neue" pitchFamily="34" charset="-120"/>
                        </a:rPr>
                        <a:t>Sender → receiver</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c>
                  <a:txBody>
                    <a:bodyPr/>
                    <a:lstStyle/>
                    <a:p>
                      <a:pPr indent="0" marL="0">
                        <a:buNone/>
                      </a:pPr>
                      <a:r>
                        <a:rPr lang="en-US" sz="930" b="1" dirty="0">
                          <a:solidFill>
                            <a:srgbClr val="FFFFFF"/>
                          </a:solidFill>
                          <a:latin typeface="Helvetica Neue" pitchFamily="34" charset="0"/>
                          <a:ea typeface="Helvetica Neue" pitchFamily="34" charset="-122"/>
                          <a:cs typeface="Helvetica Neue" pitchFamily="34" charset="-120"/>
                        </a:rPr>
                        <a:t>Payload</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c>
                  <a:txBody>
                    <a:bodyPr/>
                    <a:lstStyle/>
                    <a:p>
                      <a:pPr indent="0" marL="0">
                        <a:buNone/>
                      </a:pPr>
                      <a:r>
                        <a:rPr lang="en-US" sz="930" b="1" dirty="0">
                          <a:solidFill>
                            <a:srgbClr val="FFFFFF"/>
                          </a:solidFill>
                          <a:latin typeface="Helvetica Neue" pitchFamily="34" charset="0"/>
                          <a:ea typeface="Helvetica Neue" pitchFamily="34" charset="-122"/>
                          <a:cs typeface="Helvetica Neue" pitchFamily="34" charset="-120"/>
                        </a:rPr>
                        <a:t>MPI operation</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c>
                  <a:txBody>
                    <a:bodyPr/>
                    <a:lstStyle/>
                    <a:p>
                      <a:pPr indent="0" marL="0">
                        <a:buNone/>
                      </a:pPr>
                      <a:r>
                        <a:rPr lang="en-US" sz="930" b="1" dirty="0">
                          <a:solidFill>
                            <a:srgbClr val="FFFFFF"/>
                          </a:solidFill>
                          <a:latin typeface="Helvetica Neue" pitchFamily="34" charset="0"/>
                          <a:ea typeface="Helvetica Neue" pitchFamily="34" charset="-122"/>
                          <a:cs typeface="Helvetica Neue" pitchFamily="34" charset="-120"/>
                        </a:rPr>
                        <a:t>Scaling / round</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1A1D21"/>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CONFIG_BCAST</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base 0 → all ranks</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64 B</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MPI_Bcast</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once at startup</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STATUS_REPORT</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node → assigned base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32 B</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Isend / Irecv / Waitall</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N per round</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QUERY</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node → each valid neighbour</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16 B</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Isend / Irecv / Waitall</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exactly 2·E_mesh (always sent)</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NEIGHBOUR_REPLY</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neighbour → active querying node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24 B</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Isend / Irecv / Waitall</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 2·E_mesh (only if active)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ALERT_DECISION</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heavy node → assigned base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32 B</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Isend / Irecv / Waitall</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H per round</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BASE_ALERT_COUNT</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every base → every base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4 B</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Isend / Irecv / Waitall</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S(S-1) records</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ALERT_BATCH</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every base → every base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32 B/alert</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Isend / Irecv / Waitall</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A(S-1) records</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CANDIDATE_BATCH</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every base → owner of each alert</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16 B/candidate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Isend / Irecv / Waitall</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A(S-1) records</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REDIRECT</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owning base → source node</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24 B</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MPI_Send / Recv</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 A per round</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r h="295102">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ROUND_SYNC</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all ranks</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0 B</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MPI_Barrier</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c>
                  <a:txBody>
                    <a:bodyPr/>
                    <a:lstStyle/>
                    <a:p>
                      <a:pPr indent="0" marL="0">
                        <a:buNone/>
                      </a:pPr>
                      <a:r>
                        <a:rPr lang="en-US" sz="930" dirty="0">
                          <a:solidFill>
                            <a:srgbClr val="353B42"/>
                          </a:solidFill>
                          <a:latin typeface="Helvetica Neue" pitchFamily="34" charset="0"/>
                          <a:ea typeface="Helvetica Neue" pitchFamily="34" charset="-122"/>
                          <a:cs typeface="Helvetica Neue" pitchFamily="34" charset="-120"/>
                        </a:rPr>
                        <a:t>once per round (incl. final)</a:t>
                      </a:r>
                      <a:endParaRPr lang="en-US" sz="930" dirty="0">
                        <a:latin typeface="Helvetica Neue" charset="0"/>
                        <a:ea typeface="Helvetica Neue" charset="0"/>
                        <a:cs typeface="Helvetica Neue" charset="0"/>
                      </a:endParaRPr>
                    </a:p>
                  </a:txBody>
                  <a:tcPr marL="91440" marR="91440" marT="45720" marB="45720" anchor="ctr">
                    <a:lnL w="9525" cap="flat" cmpd="sng" algn="ctr">
                      <a:solidFill>
                        <a:srgbClr val="B8BCC4"/>
                      </a:solidFill>
                      <a:prstDash val="solid"/>
                      <a:round/>
                      <a:headEnd type="none" w="med" len="med"/>
                      <a:tailEnd type="none" w="med" len="med"/>
                    </a:lnL>
                    <a:lnR w="9525" cap="flat" cmpd="sng" algn="ctr">
                      <a:solidFill>
                        <a:srgbClr val="B8BCC4"/>
                      </a:solidFill>
                      <a:prstDash val="solid"/>
                      <a:round/>
                      <a:headEnd type="none" w="med" len="med"/>
                      <a:tailEnd type="none" w="med" len="med"/>
                    </a:lnR>
                    <a:lnT w="9525" cap="flat" cmpd="sng" algn="ctr">
                      <a:solidFill>
                        <a:srgbClr val="B8BCC4"/>
                      </a:solidFill>
                      <a:prstDash val="solid"/>
                      <a:round/>
                      <a:headEnd type="none" w="med" len="med"/>
                      <a:tailEnd type="none" w="med" len="med"/>
                    </a:lnT>
                    <a:lnB w="9525" cap="flat" cmpd="sng" algn="ctr">
                      <a:solidFill>
                        <a:srgbClr val="B8BCC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56032"/>
            <a:ext cx="8375904" cy="237744"/>
          </a:xfrm>
          <a:prstGeom prst="rect">
            <a:avLst/>
          </a:prstGeom>
          <a:noFill/>
          <a:ln/>
        </p:spPr>
        <p:txBody>
          <a:bodyPr wrap="square" rtlCol="0" anchor="ctr"/>
          <a:lstStyle/>
          <a:p>
            <a:pPr indent="0" marL="0">
              <a:buNone/>
            </a:pPr>
            <a:r>
              <a:rPr lang="en-US" sz="1200" b="1" spc="100" kern="0" dirty="0">
                <a:solidFill>
                  <a:srgbClr val="3D8DFF"/>
                </a:solidFill>
                <a:latin typeface="Helvetica Neue" pitchFamily="34" charset="0"/>
                <a:ea typeface="Helvetica Neue" pitchFamily="34" charset="-122"/>
                <a:cs typeface="Helvetica Neue" pitchFamily="34" charset="-120"/>
              </a:rPr>
              <a:t>TASK 2 · CORRECTNESS</a:t>
            </a:r>
            <a:endParaRPr lang="en-US" sz="1200" dirty="0"/>
          </a:p>
        </p:txBody>
      </p:sp>
      <p:sp>
        <p:nvSpPr>
          <p:cNvPr id="3" name="Text 1"/>
          <p:cNvSpPr/>
          <p:nvPr/>
        </p:nvSpPr>
        <p:spPr>
          <a:xfrm>
            <a:off x="384048" y="475488"/>
            <a:ext cx="8375904" cy="566928"/>
          </a:xfrm>
          <a:prstGeom prst="rect">
            <a:avLst/>
          </a:prstGeom>
          <a:noFill/>
          <a:ln/>
        </p:spPr>
        <p:txBody>
          <a:bodyPr wrap="square" rtlCol="0" anchor="ctr"/>
          <a:lstStyle/>
          <a:p>
            <a:pPr indent="0" marL="0">
              <a:buNone/>
            </a:pPr>
            <a:r>
              <a:rPr lang="en-US" sz="2500" b="1" dirty="0">
                <a:solidFill>
                  <a:srgbClr val="1A1D21"/>
                </a:solidFill>
                <a:latin typeface="Helvetica Neue" pitchFamily="34" charset="0"/>
                <a:ea typeface="Helvetica Neue" pitchFamily="34" charset="-122"/>
                <a:cs typeface="Helvetica Neue" pitchFamily="34" charset="-120"/>
              </a:rPr>
              <a:t>Why this protocol cannot deadlock</a:t>
            </a:r>
            <a:endParaRPr lang="en-US" sz="2500" dirty="0"/>
          </a:p>
        </p:txBody>
      </p:sp>
      <p:sp>
        <p:nvSpPr>
          <p:cNvPr id="4" name="Text 2"/>
          <p:cNvSpPr/>
          <p:nvPr/>
        </p:nvSpPr>
        <p:spPr>
          <a:xfrm>
            <a:off x="384048" y="969264"/>
            <a:ext cx="8375904" cy="274320"/>
          </a:xfrm>
          <a:prstGeom prst="rect">
            <a:avLst/>
          </a:prstGeom>
          <a:noFill/>
          <a:ln/>
        </p:spPr>
        <p:txBody>
          <a:bodyPr wrap="square" rtlCol="0" anchor="ctr"/>
          <a:lstStyle/>
          <a:p>
            <a:pPr indent="0" marL="0">
              <a:buNone/>
            </a:pPr>
            <a:r>
              <a:rPr lang="en-US" sz="1250" dirty="0">
                <a:solidFill>
                  <a:srgbClr val="687078"/>
                </a:solidFill>
                <a:latin typeface="Helvetica Neue" pitchFamily="34" charset="0"/>
                <a:ea typeface="Helvetica Neue" pitchFamily="34" charset="-122"/>
                <a:cs typeface="Helvetica Neue" pitchFamily="34" charset="-120"/>
              </a:rPr>
              <a:t>Ten rules make every phase finite, every exchange safely ordered, and the OpenMP boundary explicit.</a:t>
            </a:r>
            <a:endParaRPr lang="en-US" sz="1250" dirty="0"/>
          </a:p>
        </p:txBody>
      </p:sp>
      <p:sp>
        <p:nvSpPr>
          <p:cNvPr id="5" name="Shape 3"/>
          <p:cNvSpPr/>
          <p:nvPr/>
        </p:nvSpPr>
        <p:spPr>
          <a:xfrm>
            <a:off x="384048" y="1261872"/>
            <a:ext cx="8375904" cy="0"/>
          </a:xfrm>
          <a:prstGeom prst="line">
            <a:avLst/>
          </a:prstGeom>
          <a:noFill/>
          <a:ln w="12700">
            <a:solidFill>
              <a:srgbClr val="B8BCC4"/>
            </a:solidFill>
            <a:prstDash val="solid"/>
          </a:ln>
        </p:spPr>
      </p:sp>
      <p:sp>
        <p:nvSpPr>
          <p:cNvPr id="6" name="Text 4"/>
          <p:cNvSpPr/>
          <p:nvPr/>
        </p:nvSpPr>
        <p:spPr>
          <a:xfrm>
            <a:off x="8595360" y="4864608"/>
            <a:ext cx="365760" cy="219456"/>
          </a:xfrm>
          <a:prstGeom prst="rect">
            <a:avLst/>
          </a:prstGeom>
          <a:noFill/>
          <a:ln/>
        </p:spPr>
        <p:txBody>
          <a:bodyPr wrap="square" rtlCol="0" anchor="ctr"/>
          <a:lstStyle/>
          <a:p>
            <a:pPr algn="r" indent="0" marL="0">
              <a:buNone/>
            </a:pPr>
            <a:r>
              <a:rPr lang="en-US" sz="1000" dirty="0">
                <a:solidFill>
                  <a:srgbClr val="687078"/>
                </a:solidFill>
                <a:latin typeface="Helvetica Neue" pitchFamily="34" charset="0"/>
                <a:ea typeface="Helvetica Neue" pitchFamily="34" charset="-122"/>
                <a:cs typeface="Helvetica Neue" pitchFamily="34" charset="-120"/>
              </a:rPr>
              <a:t>7</a:t>
            </a:r>
            <a:endParaRPr lang="en-US" sz="1000" dirty="0"/>
          </a:p>
        </p:txBody>
      </p:sp>
      <p:sp>
        <p:nvSpPr>
          <p:cNvPr id="7" name="Shape 5"/>
          <p:cNvSpPr/>
          <p:nvPr/>
        </p:nvSpPr>
        <p:spPr>
          <a:xfrm>
            <a:off x="384048" y="1417320"/>
            <a:ext cx="4050792" cy="3246120"/>
          </a:xfrm>
          <a:prstGeom prst="rect">
            <a:avLst/>
          </a:prstGeom>
          <a:solidFill>
            <a:srgbClr val="F7F7F7"/>
          </a:solidFill>
          <a:ln w="9525">
            <a:solidFill>
              <a:srgbClr val="B8BCC4"/>
            </a:solidFill>
            <a:prstDash val="solid"/>
          </a:ln>
        </p:spPr>
      </p:sp>
      <p:sp>
        <p:nvSpPr>
          <p:cNvPr id="8" name="Shape 6"/>
          <p:cNvSpPr/>
          <p:nvPr/>
        </p:nvSpPr>
        <p:spPr>
          <a:xfrm>
            <a:off x="4709160" y="1417320"/>
            <a:ext cx="4050792" cy="3246120"/>
          </a:xfrm>
          <a:prstGeom prst="rect">
            <a:avLst/>
          </a:prstGeom>
          <a:solidFill>
            <a:srgbClr val="F7F7F7"/>
          </a:solidFill>
          <a:ln w="9525">
            <a:solidFill>
              <a:srgbClr val="B8BCC4"/>
            </a:solidFill>
            <a:prstDash val="solid"/>
          </a:ln>
        </p:spPr>
      </p:sp>
      <p:sp>
        <p:nvSpPr>
          <p:cNvPr id="9" name="Text 7"/>
          <p:cNvSpPr/>
          <p:nvPr/>
        </p:nvSpPr>
        <p:spPr>
          <a:xfrm>
            <a:off x="566928" y="1545336"/>
            <a:ext cx="3685032" cy="274320"/>
          </a:xfrm>
          <a:prstGeom prst="rect">
            <a:avLst/>
          </a:prstGeom>
          <a:noFill/>
          <a:ln/>
        </p:spPr>
        <p:txBody>
          <a:bodyPr wrap="square" rtlCol="0" anchor="ctr"/>
          <a:lstStyle/>
          <a:p>
            <a:pPr indent="0" marL="0">
              <a:buNone/>
            </a:pPr>
            <a:r>
              <a:rPr lang="en-US" sz="1300" b="1" dirty="0">
                <a:solidFill>
                  <a:srgbClr val="3D8DFF"/>
                </a:solidFill>
                <a:latin typeface="Helvetica Neue" pitchFamily="34" charset="0"/>
                <a:ea typeface="Helvetica Neue" pitchFamily="34" charset="-122"/>
                <a:cs typeface="Helvetica Neue" pitchFamily="34" charset="-120"/>
              </a:rPr>
              <a:t>Point-to-point discipline</a:t>
            </a:r>
            <a:endParaRPr lang="en-US" sz="1300" dirty="0"/>
          </a:p>
        </p:txBody>
      </p:sp>
      <p:sp>
        <p:nvSpPr>
          <p:cNvPr id="10" name="Text 8"/>
          <p:cNvSpPr/>
          <p:nvPr/>
        </p:nvSpPr>
        <p:spPr>
          <a:xfrm>
            <a:off x="4892040" y="1545336"/>
            <a:ext cx="3685032" cy="274320"/>
          </a:xfrm>
          <a:prstGeom prst="rect">
            <a:avLst/>
          </a:prstGeom>
          <a:noFill/>
          <a:ln/>
        </p:spPr>
        <p:txBody>
          <a:bodyPr wrap="square" rtlCol="0" anchor="ctr"/>
          <a:lstStyle/>
          <a:p>
            <a:pPr indent="0" marL="0">
              <a:buNone/>
            </a:pPr>
            <a:r>
              <a:rPr lang="en-US" sz="1300" b="1" dirty="0">
                <a:solidFill>
                  <a:srgbClr val="6C4FE0"/>
                </a:solidFill>
                <a:latin typeface="Helvetica Neue" pitchFamily="34" charset="0"/>
                <a:ea typeface="Helvetica Neue" pitchFamily="34" charset="-122"/>
                <a:cs typeface="Helvetica Neue" pitchFamily="34" charset="-120"/>
              </a:rPr>
              <a:t>Round &amp; batch discipline</a:t>
            </a:r>
            <a:endParaRPr lang="en-US" sz="1300" dirty="0"/>
          </a:p>
        </p:txBody>
      </p:sp>
      <p:sp>
        <p:nvSpPr>
          <p:cNvPr id="11" name="Text 9"/>
          <p:cNvSpPr/>
          <p:nvPr/>
        </p:nvSpPr>
        <p:spPr>
          <a:xfrm>
            <a:off x="566928" y="1920240"/>
            <a:ext cx="3685032" cy="2651760"/>
          </a:xfrm>
          <a:prstGeom prst="rect">
            <a:avLst/>
          </a:prstGeom>
          <a:noFill/>
          <a:ln/>
        </p:spPr>
        <p:txBody>
          <a:bodyPr wrap="square" rtlCol="0" anchor="t"/>
          <a:lstStyle/>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Post non-blocking receives before matching sends whenever the message set is known</a:t>
            </a:r>
            <a:endParaRPr lang="en-US" sz="1100" dirty="0"/>
          </a:p>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Complete every Isend/Irecv with Wait or Waitall before reusing the buffer</a:t>
            </a:r>
            <a:endParaRPr lang="en-US" sz="1100" dirty="0"/>
          </a:p>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Never reuse a non-blocking send buffer before completion</a:t>
            </a:r>
            <a:endParaRPr lang="en-US" sz="1100" dirty="0"/>
          </a:p>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Use distinct tags for status, query, reply, alert decision, counts, batches, candidates and redirect</a:t>
            </a:r>
            <a:endParaRPr lang="en-US" sz="1100" dirty="0"/>
          </a:p>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Include roundId and source identifiers in every payload so stale records can be rejected</a:t>
            </a:r>
            <a:endParaRPr lang="en-US" sz="1100" dirty="0"/>
          </a:p>
        </p:txBody>
      </p:sp>
      <p:sp>
        <p:nvSpPr>
          <p:cNvPr id="12" name="Text 10"/>
          <p:cNvSpPr/>
          <p:nvPr/>
        </p:nvSpPr>
        <p:spPr>
          <a:xfrm>
            <a:off x="4892040" y="1920240"/>
            <a:ext cx="3685032" cy="2651760"/>
          </a:xfrm>
          <a:prstGeom prst="rect">
            <a:avLst/>
          </a:prstGeom>
          <a:noFill/>
          <a:ln/>
        </p:spPr>
        <p:txBody>
          <a:bodyPr wrap="square" rtlCol="0" anchor="t"/>
          <a:lstStyle/>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Bases exchange counts before variable-size arrays, so every receive has a known size</a:t>
            </a:r>
            <a:endParaRPr lang="en-US" sz="1100" dirty="0"/>
          </a:p>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Every heavy node sends one alert decision — true or false — so the base has an exact expected count</a:t>
            </a:r>
            <a:endParaRPr lang="en-US" sz="1100" dirty="0"/>
          </a:p>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All bases sort alerts identically before the candidate exchange</a:t>
            </a:r>
            <a:endParaRPr lang="en-US" sz="1100" dirty="0"/>
          </a:p>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All ranks call MPI_Bcast and MPI_Barrier in the same order</a:t>
            </a:r>
            <a:endParaRPr lang="en-US" sz="1100" dirty="0"/>
          </a:p>
          <a:p>
            <a:pPr marL="177800" indent="-177800">
              <a:spcAft>
                <a:spcPts val="900"/>
              </a:spcAft>
              <a:buSzPct val="100000"/>
              <a:buChar char="•"/>
            </a:pPr>
            <a:r>
              <a:rPr lang="en-US" sz="1100" dirty="0">
                <a:solidFill>
                  <a:srgbClr val="353B42"/>
                </a:solidFill>
                <a:latin typeface="Helvetica Neue" pitchFamily="34" charset="0"/>
                <a:ea typeface="Helvetica Neue" pitchFamily="34" charset="-122"/>
                <a:cs typeface="Helvetica Neue" pitchFamily="34" charset="-120"/>
              </a:rPr>
              <a:t>OpenMP workers finish the local candidate search before the master thread sends or receives any candidate batch — only that thread calls MPI (MPI_THREAD_FUNNELED)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56032"/>
            <a:ext cx="8375904" cy="237744"/>
          </a:xfrm>
          <a:prstGeom prst="rect">
            <a:avLst/>
          </a:prstGeom>
          <a:noFill/>
          <a:ln/>
        </p:spPr>
        <p:txBody>
          <a:bodyPr wrap="square" rtlCol="0" anchor="ctr"/>
          <a:lstStyle/>
          <a:p>
            <a:pPr indent="0" marL="0">
              <a:buNone/>
            </a:pPr>
            <a:r>
              <a:rPr lang="en-US" sz="1200" b="1" spc="100" kern="0" dirty="0">
                <a:solidFill>
                  <a:srgbClr val="3D8DFF"/>
                </a:solidFill>
                <a:latin typeface="Helvetica Neue" pitchFamily="34" charset="0"/>
                <a:ea typeface="Helvetica Neue" pitchFamily="34" charset="-122"/>
                <a:cs typeface="Helvetica Neue" pitchFamily="34" charset="-120"/>
              </a:rPr>
              <a:t>TASK 2 · SCOPE</a:t>
            </a:r>
            <a:endParaRPr lang="en-US" sz="1200" dirty="0"/>
          </a:p>
        </p:txBody>
      </p:sp>
      <p:sp>
        <p:nvSpPr>
          <p:cNvPr id="3" name="Text 1"/>
          <p:cNvSpPr/>
          <p:nvPr/>
        </p:nvSpPr>
        <p:spPr>
          <a:xfrm>
            <a:off x="384048" y="475488"/>
            <a:ext cx="8375904" cy="566928"/>
          </a:xfrm>
          <a:prstGeom prst="rect">
            <a:avLst/>
          </a:prstGeom>
          <a:noFill/>
          <a:ln/>
        </p:spPr>
        <p:txBody>
          <a:bodyPr wrap="square" rtlCol="0" anchor="ctr"/>
          <a:lstStyle/>
          <a:p>
            <a:pPr indent="0" marL="0">
              <a:buNone/>
            </a:pPr>
            <a:r>
              <a:rPr lang="en-US" sz="2500" b="1" dirty="0">
                <a:solidFill>
                  <a:srgbClr val="1A1D21"/>
                </a:solidFill>
                <a:latin typeface="Helvetica Neue" pitchFamily="34" charset="0"/>
                <a:ea typeface="Helvetica Neue" pitchFamily="34" charset="-122"/>
                <a:cs typeface="Helvetica Neue" pitchFamily="34" charset="-120"/>
              </a:rPr>
              <a:t>Applied Week 5 API compliance</a:t>
            </a:r>
            <a:endParaRPr lang="en-US" sz="2500" dirty="0"/>
          </a:p>
        </p:txBody>
      </p:sp>
      <p:sp>
        <p:nvSpPr>
          <p:cNvPr id="4" name="Text 2"/>
          <p:cNvSpPr/>
          <p:nvPr/>
        </p:nvSpPr>
        <p:spPr>
          <a:xfrm>
            <a:off x="384048" y="969264"/>
            <a:ext cx="8375904" cy="274320"/>
          </a:xfrm>
          <a:prstGeom prst="rect">
            <a:avLst/>
          </a:prstGeom>
          <a:noFill/>
          <a:ln/>
        </p:spPr>
        <p:txBody>
          <a:bodyPr wrap="square" rtlCol="0" anchor="ctr"/>
          <a:lstStyle/>
          <a:p>
            <a:pPr indent="0" marL="0">
              <a:buNone/>
            </a:pPr>
            <a:r>
              <a:rPr lang="en-US" sz="1250" dirty="0">
                <a:solidFill>
                  <a:srgbClr val="687078"/>
                </a:solidFill>
                <a:latin typeface="Helvetica Neue" pitchFamily="34" charset="0"/>
                <a:ea typeface="Helvetica Neue" pitchFamily="34" charset="-122"/>
                <a:cs typeface="Helvetica Neue" pitchFamily="34" charset="-120"/>
              </a:rPr>
              <a:t>Every collective and topology helper is deliberately replaced — nothing is missing, only relocated.</a:t>
            </a:r>
            <a:endParaRPr lang="en-US" sz="1250" dirty="0"/>
          </a:p>
        </p:txBody>
      </p:sp>
      <p:sp>
        <p:nvSpPr>
          <p:cNvPr id="5" name="Shape 3"/>
          <p:cNvSpPr/>
          <p:nvPr/>
        </p:nvSpPr>
        <p:spPr>
          <a:xfrm>
            <a:off x="384048" y="1261872"/>
            <a:ext cx="8375904" cy="0"/>
          </a:xfrm>
          <a:prstGeom prst="line">
            <a:avLst/>
          </a:prstGeom>
          <a:noFill/>
          <a:ln w="12700">
            <a:solidFill>
              <a:srgbClr val="B8BCC4"/>
            </a:solidFill>
            <a:prstDash val="solid"/>
          </a:ln>
        </p:spPr>
      </p:sp>
      <p:sp>
        <p:nvSpPr>
          <p:cNvPr id="6" name="Text 4"/>
          <p:cNvSpPr/>
          <p:nvPr/>
        </p:nvSpPr>
        <p:spPr>
          <a:xfrm>
            <a:off x="8595360" y="4864608"/>
            <a:ext cx="365760" cy="219456"/>
          </a:xfrm>
          <a:prstGeom prst="rect">
            <a:avLst/>
          </a:prstGeom>
          <a:noFill/>
          <a:ln/>
        </p:spPr>
        <p:txBody>
          <a:bodyPr wrap="square" rtlCol="0" anchor="ctr"/>
          <a:lstStyle/>
          <a:p>
            <a:pPr algn="r" indent="0" marL="0">
              <a:buNone/>
            </a:pPr>
            <a:r>
              <a:rPr lang="en-US" sz="1000" dirty="0">
                <a:solidFill>
                  <a:srgbClr val="687078"/>
                </a:solidFill>
                <a:latin typeface="Helvetica Neue" pitchFamily="34" charset="0"/>
                <a:ea typeface="Helvetica Neue" pitchFamily="34" charset="-122"/>
                <a:cs typeface="Helvetica Neue" pitchFamily="34" charset="-120"/>
              </a:rPr>
              <a:t>8</a:t>
            </a:r>
            <a:endParaRPr lang="en-US" sz="1000" dirty="0"/>
          </a:p>
        </p:txBody>
      </p:sp>
      <p:sp>
        <p:nvSpPr>
          <p:cNvPr id="7" name="Shape 5"/>
          <p:cNvSpPr/>
          <p:nvPr/>
        </p:nvSpPr>
        <p:spPr>
          <a:xfrm>
            <a:off x="384048" y="1417320"/>
            <a:ext cx="4050792" cy="3246120"/>
          </a:xfrm>
          <a:prstGeom prst="rect">
            <a:avLst/>
          </a:prstGeom>
          <a:solidFill>
            <a:srgbClr val="EAF7F0"/>
          </a:solidFill>
          <a:ln w="12700">
            <a:solidFill>
              <a:srgbClr val="1B8F72"/>
            </a:solidFill>
            <a:prstDash val="solid"/>
          </a:ln>
        </p:spPr>
      </p:sp>
      <p:sp>
        <p:nvSpPr>
          <p:cNvPr id="8" name="Shape 6"/>
          <p:cNvSpPr/>
          <p:nvPr/>
        </p:nvSpPr>
        <p:spPr>
          <a:xfrm>
            <a:off x="4709160" y="1417320"/>
            <a:ext cx="4050792" cy="3246120"/>
          </a:xfrm>
          <a:prstGeom prst="rect">
            <a:avLst/>
          </a:prstGeom>
          <a:solidFill>
            <a:srgbClr val="FBEAEA"/>
          </a:solidFill>
          <a:ln w="12700">
            <a:solidFill>
              <a:srgbClr val="C0392B"/>
            </a:solidFill>
            <a:prstDash val="solid"/>
          </a:ln>
        </p:spPr>
      </p:sp>
      <p:sp>
        <p:nvSpPr>
          <p:cNvPr id="9" name="Text 7"/>
          <p:cNvSpPr/>
          <p:nvPr/>
        </p:nvSpPr>
        <p:spPr>
          <a:xfrm>
            <a:off x="566928" y="1563624"/>
            <a:ext cx="3685032" cy="274320"/>
          </a:xfrm>
          <a:prstGeom prst="rect">
            <a:avLst/>
          </a:prstGeom>
          <a:noFill/>
          <a:ln/>
        </p:spPr>
        <p:txBody>
          <a:bodyPr wrap="square" rtlCol="0" anchor="ctr"/>
          <a:lstStyle/>
          <a:p>
            <a:pPr indent="0" marL="0">
              <a:buNone/>
            </a:pPr>
            <a:r>
              <a:rPr lang="en-US" sz="1350" b="1" dirty="0">
                <a:solidFill>
                  <a:srgbClr val="1B8F72"/>
                </a:solidFill>
                <a:latin typeface="Helvetica Neue" pitchFamily="34" charset="0"/>
                <a:ea typeface="Helvetica Neue" pitchFamily="34" charset="-122"/>
                <a:cs typeface="Helvetica Neue" pitchFamily="34" charset="-120"/>
              </a:rPr>
              <a:t>Used — core design</a:t>
            </a:r>
            <a:endParaRPr lang="en-US" sz="1350" dirty="0"/>
          </a:p>
        </p:txBody>
      </p:sp>
      <p:sp>
        <p:nvSpPr>
          <p:cNvPr id="10" name="Text 8"/>
          <p:cNvSpPr/>
          <p:nvPr/>
        </p:nvSpPr>
        <p:spPr>
          <a:xfrm>
            <a:off x="566928" y="1929384"/>
            <a:ext cx="3685032" cy="2606040"/>
          </a:xfrm>
          <a:prstGeom prst="rect">
            <a:avLst/>
          </a:prstGeom>
          <a:noFill/>
          <a:ln/>
        </p:spPr>
        <p:txBody>
          <a:bodyPr wrap="square" rtlCol="0" anchor="t"/>
          <a:lstStyle/>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MPI_Init_thread (FUNNELED)</a:t>
            </a:r>
            <a:endParaRPr lang="en-US" sz="1150" dirty="0"/>
          </a:p>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MPI_Comm_rank / MPI_Comm_size</a:t>
            </a:r>
            <a:endParaRPr lang="en-US" sz="1150" dirty="0"/>
          </a:p>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MPI_Bcast</a:t>
            </a:r>
            <a:endParaRPr lang="en-US" sz="1150" dirty="0"/>
          </a:p>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MPI_Send / MPI_Recv</a:t>
            </a:r>
            <a:endParaRPr lang="en-US" sz="1150" dirty="0"/>
          </a:p>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MPI_Isend / MPI_Irecv</a:t>
            </a:r>
            <a:endParaRPr lang="en-US" sz="1150" dirty="0"/>
          </a:p>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MPI_Wait / MPI_Waitall</a:t>
            </a:r>
            <a:endParaRPr lang="en-US" sz="1150" dirty="0"/>
          </a:p>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MPI_Barrier</a:t>
            </a:r>
            <a:endParaRPr lang="en-US" sz="1150" dirty="0"/>
          </a:p>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MPI_Wtime</a:t>
            </a:r>
            <a:endParaRPr lang="en-US" sz="1150" dirty="0"/>
          </a:p>
          <a:p>
            <a:pPr marL="203200" indent="-203200">
              <a:spcAft>
                <a:spcPts val="700"/>
              </a:spcAft>
              <a:buSzPct val="100000"/>
              <a:buChar char="✓"/>
            </a:pPr>
            <a:r>
              <a:rPr lang="en-US" sz="1150" dirty="0">
                <a:solidFill>
                  <a:srgbClr val="353B42"/>
                </a:solidFill>
                <a:latin typeface="Courier New" pitchFamily="34" charset="0"/>
                <a:ea typeface="Courier New" pitchFamily="34" charset="-122"/>
                <a:cs typeface="Courier New" pitchFamily="34" charset="-120"/>
              </a:rPr>
              <a:t>MPI_Finalize</a:t>
            </a:r>
            <a:endParaRPr lang="en-US" sz="1150" dirty="0"/>
          </a:p>
        </p:txBody>
      </p:sp>
      <p:sp>
        <p:nvSpPr>
          <p:cNvPr id="11" name="Text 9"/>
          <p:cNvSpPr/>
          <p:nvPr/>
        </p:nvSpPr>
        <p:spPr>
          <a:xfrm>
            <a:off x="4892040" y="1563624"/>
            <a:ext cx="3685032" cy="274320"/>
          </a:xfrm>
          <a:prstGeom prst="rect">
            <a:avLst/>
          </a:prstGeom>
          <a:noFill/>
          <a:ln/>
        </p:spPr>
        <p:txBody>
          <a:bodyPr wrap="square" rtlCol="0" anchor="ctr"/>
          <a:lstStyle/>
          <a:p>
            <a:pPr indent="0" marL="0">
              <a:buNone/>
            </a:pPr>
            <a:r>
              <a:rPr lang="en-US" sz="1350" b="1" dirty="0">
                <a:solidFill>
                  <a:srgbClr val="C0392B"/>
                </a:solidFill>
                <a:latin typeface="Helvetica Neue" pitchFamily="34" charset="0"/>
                <a:ea typeface="Helvetica Neue" pitchFamily="34" charset="-122"/>
                <a:cs typeface="Helvetica Neue" pitchFamily="34" charset="-120"/>
              </a:rPr>
              <a:t>Deliberately not used</a:t>
            </a:r>
            <a:endParaRPr lang="en-US" sz="1350" dirty="0"/>
          </a:p>
        </p:txBody>
      </p:sp>
      <p:sp>
        <p:nvSpPr>
          <p:cNvPr id="12" name="Text 10"/>
          <p:cNvSpPr/>
          <p:nvPr/>
        </p:nvSpPr>
        <p:spPr>
          <a:xfrm>
            <a:off x="4892040" y="1929384"/>
            <a:ext cx="3685032" cy="2606040"/>
          </a:xfrm>
          <a:prstGeom prst="rect">
            <a:avLst/>
          </a:prstGeom>
          <a:noFill/>
          <a:ln/>
        </p:spPr>
        <p:txBody>
          <a:bodyPr wrap="square" rtlCol="0" anchor="t"/>
          <a:lstStyle/>
          <a:p>
            <a:pPr marL="203200" indent="-203200">
              <a:spcAft>
                <a:spcPts val="700"/>
              </a:spcAft>
              <a:buSzPct val="100000"/>
              <a:buChar char="✗"/>
            </a:pPr>
            <a:r>
              <a:rPr lang="en-US" sz="1200" dirty="0">
                <a:solidFill>
                  <a:srgbClr val="353B42"/>
                </a:solidFill>
                <a:latin typeface="Courier New" pitchFamily="34" charset="0"/>
                <a:ea typeface="Courier New" pitchFamily="34" charset="-122"/>
                <a:cs typeface="Courier New" pitchFamily="34" charset="-120"/>
              </a:rPr>
              <a:t>MPI_Comm_split</a:t>
            </a:r>
            <a:endParaRPr lang="en-US" sz="1200" dirty="0"/>
          </a:p>
          <a:p>
            <a:pPr marL="203200" indent="-203200">
              <a:spcAft>
                <a:spcPts val="700"/>
              </a:spcAft>
              <a:buSzPct val="100000"/>
              <a:buChar char="✗"/>
            </a:pPr>
            <a:r>
              <a:rPr lang="en-US" sz="1200" dirty="0">
                <a:solidFill>
                  <a:srgbClr val="353B42"/>
                </a:solidFill>
                <a:latin typeface="Courier New" pitchFamily="34" charset="0"/>
                <a:ea typeface="Courier New" pitchFamily="34" charset="-122"/>
                <a:cs typeface="Courier New" pitchFamily="34" charset="-120"/>
              </a:rPr>
              <a:t>MPI_Dims_create</a:t>
            </a:r>
            <a:endParaRPr lang="en-US" sz="1200" dirty="0"/>
          </a:p>
          <a:p>
            <a:pPr marL="203200" indent="-203200">
              <a:spcAft>
                <a:spcPts val="700"/>
              </a:spcAft>
              <a:buSzPct val="100000"/>
              <a:buChar char="✗"/>
            </a:pPr>
            <a:r>
              <a:rPr lang="en-US" sz="1200" dirty="0">
                <a:solidFill>
                  <a:srgbClr val="353B42"/>
                </a:solidFill>
                <a:latin typeface="Courier New" pitchFamily="34" charset="0"/>
                <a:ea typeface="Courier New" pitchFamily="34" charset="-122"/>
                <a:cs typeface="Courier New" pitchFamily="34" charset="-120"/>
              </a:rPr>
              <a:t>MPI_Cart_create</a:t>
            </a:r>
            <a:endParaRPr lang="en-US" sz="1200" dirty="0"/>
          </a:p>
          <a:p>
            <a:pPr marL="203200" indent="-203200">
              <a:spcAft>
                <a:spcPts val="700"/>
              </a:spcAft>
              <a:buSzPct val="100000"/>
              <a:buChar char="✗"/>
            </a:pPr>
            <a:r>
              <a:rPr lang="en-US" sz="1200" dirty="0">
                <a:solidFill>
                  <a:srgbClr val="353B42"/>
                </a:solidFill>
                <a:latin typeface="Courier New" pitchFamily="34" charset="0"/>
                <a:ea typeface="Courier New" pitchFamily="34" charset="-122"/>
                <a:cs typeface="Courier New" pitchFamily="34" charset="-120"/>
              </a:rPr>
              <a:t>MPI_Cart_shift</a:t>
            </a:r>
            <a:endParaRPr lang="en-US" sz="1200" dirty="0"/>
          </a:p>
          <a:p>
            <a:pPr marL="203200" indent="-203200">
              <a:spcAft>
                <a:spcPts val="700"/>
              </a:spcAft>
              <a:buSzPct val="100000"/>
              <a:buChar char="✗"/>
            </a:pPr>
            <a:r>
              <a:rPr lang="en-US" sz="1200" dirty="0">
                <a:solidFill>
                  <a:srgbClr val="353B42"/>
                </a:solidFill>
                <a:latin typeface="Courier New" pitchFamily="34" charset="0"/>
                <a:ea typeface="Courier New" pitchFamily="34" charset="-122"/>
                <a:cs typeface="Courier New" pitchFamily="34" charset="-120"/>
              </a:rPr>
              <a:t>MPI_Allgatherv</a:t>
            </a:r>
            <a:endParaRPr lang="en-US" sz="1200" dirty="0"/>
          </a:p>
          <a:p>
            <a:pPr marL="203200" indent="-203200">
              <a:spcAft>
                <a:spcPts val="700"/>
              </a:spcAft>
              <a:buSzPct val="100000"/>
              <a:buChar char="✗"/>
            </a:pPr>
            <a:r>
              <a:rPr lang="en-US" sz="1200" dirty="0">
                <a:solidFill>
                  <a:srgbClr val="353B42"/>
                </a:solidFill>
                <a:latin typeface="Courier New" pitchFamily="34" charset="0"/>
                <a:ea typeface="Courier New" pitchFamily="34" charset="-122"/>
                <a:cs typeface="Courier New" pitchFamily="34" charset="-120"/>
              </a:rPr>
              <a:t>MPI_MINLOC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56032"/>
            <a:ext cx="8375904" cy="237744"/>
          </a:xfrm>
          <a:prstGeom prst="rect">
            <a:avLst/>
          </a:prstGeom>
          <a:noFill/>
          <a:ln/>
        </p:spPr>
        <p:txBody>
          <a:bodyPr wrap="square" rtlCol="0" anchor="ctr"/>
          <a:lstStyle/>
          <a:p>
            <a:pPr indent="0" marL="0">
              <a:buNone/>
            </a:pPr>
            <a:r>
              <a:rPr lang="en-US" sz="1200" b="1" spc="100" kern="0" dirty="0">
                <a:solidFill>
                  <a:srgbClr val="3D8DFF"/>
                </a:solidFill>
                <a:latin typeface="Helvetica Neue" pitchFamily="34" charset="0"/>
                <a:ea typeface="Helvetica Neue" pitchFamily="34" charset="-122"/>
                <a:cs typeface="Helvetica Neue" pitchFamily="34" charset="-120"/>
              </a:rPr>
              <a:t>TASK 2 · SUMMARY</a:t>
            </a:r>
            <a:endParaRPr lang="en-US" sz="1200" dirty="0"/>
          </a:p>
        </p:txBody>
      </p:sp>
      <p:sp>
        <p:nvSpPr>
          <p:cNvPr id="3" name="Text 1"/>
          <p:cNvSpPr/>
          <p:nvPr/>
        </p:nvSpPr>
        <p:spPr>
          <a:xfrm>
            <a:off x="384048" y="475488"/>
            <a:ext cx="8375904" cy="566928"/>
          </a:xfrm>
          <a:prstGeom prst="rect">
            <a:avLst/>
          </a:prstGeom>
          <a:noFill/>
          <a:ln/>
        </p:spPr>
        <p:txBody>
          <a:bodyPr wrap="square" rtlCol="0" anchor="ctr"/>
          <a:lstStyle/>
          <a:p>
            <a:pPr indent="0" marL="0">
              <a:buNone/>
            </a:pPr>
            <a:r>
              <a:rPr lang="en-US" sz="2500" b="1" dirty="0">
                <a:solidFill>
                  <a:srgbClr val="1A1D21"/>
                </a:solidFill>
                <a:latin typeface="Helvetica Neue" pitchFamily="34" charset="0"/>
                <a:ea typeface="Helvetica Neue" pitchFamily="34" charset="-122"/>
                <a:cs typeface="Helvetica Neue" pitchFamily="34" charset="-120"/>
              </a:rPr>
              <a:t>Task 2 takeaway</a:t>
            </a:r>
            <a:endParaRPr lang="en-US" sz="2500" dirty="0"/>
          </a:p>
        </p:txBody>
      </p:sp>
      <p:sp>
        <p:nvSpPr>
          <p:cNvPr id="4" name="Shape 2"/>
          <p:cNvSpPr/>
          <p:nvPr/>
        </p:nvSpPr>
        <p:spPr>
          <a:xfrm>
            <a:off x="384048" y="1024128"/>
            <a:ext cx="8375904" cy="0"/>
          </a:xfrm>
          <a:prstGeom prst="line">
            <a:avLst/>
          </a:prstGeom>
          <a:noFill/>
          <a:ln w="12700">
            <a:solidFill>
              <a:srgbClr val="B8BCC4"/>
            </a:solidFill>
            <a:prstDash val="solid"/>
          </a:ln>
        </p:spPr>
      </p:sp>
      <p:sp>
        <p:nvSpPr>
          <p:cNvPr id="5" name="Text 3"/>
          <p:cNvSpPr/>
          <p:nvPr/>
        </p:nvSpPr>
        <p:spPr>
          <a:xfrm>
            <a:off x="8595360" y="4864608"/>
            <a:ext cx="365760" cy="219456"/>
          </a:xfrm>
          <a:prstGeom prst="rect">
            <a:avLst/>
          </a:prstGeom>
          <a:noFill/>
          <a:ln/>
        </p:spPr>
        <p:txBody>
          <a:bodyPr wrap="square" rtlCol="0" anchor="ctr"/>
          <a:lstStyle/>
          <a:p>
            <a:pPr algn="r" indent="0" marL="0">
              <a:buNone/>
            </a:pPr>
            <a:r>
              <a:rPr lang="en-US" sz="1000" dirty="0">
                <a:solidFill>
                  <a:srgbClr val="687078"/>
                </a:solidFill>
                <a:latin typeface="Helvetica Neue" pitchFamily="34" charset="0"/>
                <a:ea typeface="Helvetica Neue" pitchFamily="34" charset="-122"/>
                <a:cs typeface="Helvetica Neue" pitchFamily="34" charset="-120"/>
              </a:rPr>
              <a:t>9</a:t>
            </a:r>
            <a:endParaRPr lang="en-US" sz="1000" dirty="0"/>
          </a:p>
        </p:txBody>
      </p:sp>
      <p:sp>
        <p:nvSpPr>
          <p:cNvPr id="6" name="Shape 4"/>
          <p:cNvSpPr/>
          <p:nvPr/>
        </p:nvSpPr>
        <p:spPr>
          <a:xfrm>
            <a:off x="384048" y="1234440"/>
            <a:ext cx="8375904" cy="1234440"/>
          </a:xfrm>
          <a:prstGeom prst="rect">
            <a:avLst/>
          </a:prstGeom>
          <a:solidFill>
            <a:srgbClr val="1A1D21"/>
          </a:solidFill>
          <a:ln/>
        </p:spPr>
      </p:sp>
      <p:sp>
        <p:nvSpPr>
          <p:cNvPr id="7" name="Text 5"/>
          <p:cNvSpPr/>
          <p:nvPr/>
        </p:nvSpPr>
        <p:spPr>
          <a:xfrm>
            <a:off x="612648" y="1344168"/>
            <a:ext cx="7918704" cy="1005840"/>
          </a:xfrm>
          <a:prstGeom prst="rect">
            <a:avLst/>
          </a:prstGeom>
          <a:noFill/>
          <a:ln/>
        </p:spPr>
        <p:txBody>
          <a:bodyPr wrap="square" rtlCol="0" anchor="ctr"/>
          <a:lstStyle/>
          <a:p>
            <a:pPr indent="0" marL="0">
              <a:lnSpc>
                <a:spcPct val="135000"/>
              </a:lnSpc>
              <a:buNone/>
            </a:pPr>
            <a:r>
              <a:rPr lang="en-US" sz="2000" b="1" dirty="0">
                <a:solidFill>
                  <a:srgbClr val="FFFFFF"/>
                </a:solidFill>
                <a:latin typeface="Helvetica Neue" pitchFamily="34" charset="0"/>
                <a:ea typeface="Helvetica Neue" pitchFamily="34" charset="-122"/>
                <a:cs typeface="Helvetica Neue" pitchFamily="34" charset="-120"/>
              </a:rPr>
              <a:t>80 active cores</a:t>
            </a:r>
            <a:pPr indent="0" marL="0">
              <a:lnSpc>
                <a:spcPct val="135000"/>
              </a:lnSpc>
              <a:buNone/>
            </a:pPr>
            <a:r>
              <a:rPr lang="en-US" sz="1300" dirty="0">
                <a:solidFill>
                  <a:srgbClr val="D8DCE1"/>
                </a:solidFill>
                <a:latin typeface="Helvetica Neue" pitchFamily="34" charset="0"/>
                <a:ea typeface="Helvetica Neue" pitchFamily="34" charset="-122"/>
                <a:cs typeface="Helvetica Neue" pitchFamily="34" charset="-120"/>
              </a:rPr>
              <a:t>  ·  4 hosts, 20 active/host (16 node ranks + base w/ 4 OpenMP threads)  ·  3 hosts is the packed minimum
</a:t>
            </a:r>
            <a:pPr indent="0" marL="0">
              <a:lnSpc>
                <a:spcPct val="135000"/>
              </a:lnSpc>
              <a:buNone/>
            </a:pPr>
            <a:r>
              <a:rPr lang="en-US" sz="2000" b="1" dirty="0">
                <a:solidFill>
                  <a:srgbClr val="FFFFFF"/>
                </a:solidFill>
                <a:latin typeface="Helvetica Neue" pitchFamily="34" charset="0"/>
                <a:ea typeface="Helvetica Neue" pitchFamily="34" charset="-122"/>
                <a:cs typeface="Helvetica Neue" pitchFamily="34" charset="-120"/>
              </a:rPr>
              <a:t>0.10544 Mbps</a:t>
            </a:r>
            <a:pPr indent="0" marL="0">
              <a:lnSpc>
                <a:spcPct val="135000"/>
              </a:lnSpc>
              <a:buNone/>
            </a:pPr>
            <a:r>
              <a:rPr lang="en-US" sz="1400" dirty="0">
                <a:solidFill>
                  <a:srgbClr val="D8DCE1"/>
                </a:solidFill>
                <a:latin typeface="Helvetica Neue" pitchFamily="34" charset="0"/>
                <a:ea typeface="Helvetica Neue" pitchFamily="34" charset="-122"/>
                <a:cs typeface="Helvetica Neue" pitchFamily="34" charset="-120"/>
              </a:rPr>
              <a:t>  aggregate external bandwidth at 1 round/s, worst case (A = N = 64)</a:t>
            </a:r>
            <a:endParaRPr lang="en-US" sz="2000" dirty="0"/>
          </a:p>
        </p:txBody>
      </p:sp>
      <p:sp>
        <p:nvSpPr>
          <p:cNvPr id="8" name="Text 6"/>
          <p:cNvSpPr/>
          <p:nvPr/>
        </p:nvSpPr>
        <p:spPr>
          <a:xfrm>
            <a:off x="384048" y="2743200"/>
            <a:ext cx="8375904" cy="502920"/>
          </a:xfrm>
          <a:prstGeom prst="rect">
            <a:avLst/>
          </a:prstGeom>
          <a:noFill/>
          <a:ln/>
        </p:spPr>
        <p:txBody>
          <a:bodyPr wrap="square" rtlCol="0" anchor="ctr"/>
          <a:lstStyle/>
          <a:p>
            <a:pPr indent="0" marL="0">
              <a:buNone/>
            </a:pPr>
            <a:r>
              <a:rPr lang="en-US" sz="1350" b="1" dirty="0">
                <a:solidFill>
                  <a:srgbClr val="353B42"/>
                </a:solidFill>
                <a:latin typeface="Helvetica Neue" pitchFamily="34" charset="0"/>
                <a:ea typeface="Helvetica Neue" pitchFamily="34" charset="-122"/>
                <a:cs typeface="Helvetica Neue" pitchFamily="34" charset="-120"/>
              </a:rPr>
              <a:t>Every message is safe with only Applied Week 5 APIs: known finite receive counts, count-before-batch exchange, no collectives beyond Bcast and Barrier, OpenMP confined behind MPI_THREAD_FUNNELED.</a:t>
            </a:r>
            <a:endParaRPr lang="en-US" sz="1350" dirty="0"/>
          </a:p>
        </p:txBody>
      </p:sp>
      <p:sp>
        <p:nvSpPr>
          <p:cNvPr id="9" name="Text 7"/>
          <p:cNvSpPr/>
          <p:nvPr/>
        </p:nvSpPr>
        <p:spPr>
          <a:xfrm>
            <a:off x="384048" y="3383280"/>
            <a:ext cx="8375904" cy="502920"/>
          </a:xfrm>
          <a:prstGeom prst="rect">
            <a:avLst/>
          </a:prstGeom>
          <a:noFill/>
          <a:ln/>
        </p:spPr>
        <p:txBody>
          <a:bodyPr wrap="square" rtlCol="0" anchor="ctr"/>
          <a:lstStyle/>
          <a:p>
            <a:pPr indent="0" marL="0">
              <a:buNone/>
            </a:pPr>
            <a:r>
              <a:rPr lang="en-US" sz="1250" i="1" dirty="0">
                <a:solidFill>
                  <a:srgbClr val="687078"/>
                </a:solidFill>
                <a:latin typeface="Helvetica Neue" pitchFamily="34" charset="0"/>
                <a:ea typeface="Helvetica Neue" pitchFamily="34" charset="-122"/>
                <a:cs typeface="Helvetica Neue" pitchFamily="34" charset="-120"/>
              </a:rPr>
              <a:t>Limitation carried into Task 3: the baseline assumes reliable MPI ranks — a stale roundId is treated as an incomplete round rather than a failure, and process-failure timeout handling remains future work.</a:t>
            </a:r>
            <a:endParaRPr lang="en-US" sz="1250" dirty="0"/>
          </a:p>
        </p:txBody>
      </p:sp>
      <p:sp>
        <p:nvSpPr>
          <p:cNvPr id="10" name="Shape 8"/>
          <p:cNvSpPr/>
          <p:nvPr/>
        </p:nvSpPr>
        <p:spPr>
          <a:xfrm>
            <a:off x="384048" y="4160520"/>
            <a:ext cx="8375904" cy="566928"/>
          </a:xfrm>
          <a:prstGeom prst="rect">
            <a:avLst/>
          </a:prstGeom>
          <a:solidFill>
            <a:srgbClr val="D0EDFA"/>
          </a:solidFill>
          <a:ln w="12700">
            <a:solidFill>
              <a:srgbClr val="3D8DFF"/>
            </a:solidFill>
            <a:prstDash val="solid"/>
          </a:ln>
        </p:spPr>
      </p:sp>
      <p:sp>
        <p:nvSpPr>
          <p:cNvPr id="11" name="Text 9"/>
          <p:cNvSpPr/>
          <p:nvPr/>
        </p:nvSpPr>
        <p:spPr>
          <a:xfrm>
            <a:off x="521208" y="4160520"/>
            <a:ext cx="8101584" cy="566928"/>
          </a:xfrm>
          <a:prstGeom prst="rect">
            <a:avLst/>
          </a:prstGeom>
          <a:noFill/>
          <a:ln/>
        </p:spPr>
        <p:txBody>
          <a:bodyPr wrap="square" rtlCol="0" anchor="ctr"/>
          <a:lstStyle/>
          <a:p>
            <a:pPr indent="0" marL="0">
              <a:buNone/>
            </a:pPr>
            <a:r>
              <a:rPr lang="en-US" sz="1300" b="1" dirty="0">
                <a:solidFill>
                  <a:srgbClr val="1A1D21"/>
                </a:solidFill>
                <a:latin typeface="Helvetica Neue" pitchFamily="34" charset="0"/>
                <a:ea typeface="Helvetica Neue" pitchFamily="34" charset="-122"/>
                <a:cs typeface="Helvetica Neue" pitchFamily="34" charset="-120"/>
              </a:rPr>
              <a:t>Next: Task 3 uses this exact message catalogue to derive per-message and aggregate transmission delay.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FIT3143 Applied 1 - Task 2 Architecture Design (Hybrid MPI/OpenMP)</dc:title>
  <dc:subject>PptxGenJS Presentation</dc:subject>
  <dc:creator>Jiaqi</dc:creator>
  <cp:lastModifiedBy>Jiaqi</cp:lastModifiedBy>
  <cp:revision>1</cp:revision>
  <dcterms:created xsi:type="dcterms:W3CDTF">2026-09-03T23:18:26Z</dcterms:created>
  <dcterms:modified xsi:type="dcterms:W3CDTF">2026-09-03T23:18:26Z</dcterms:modified>
</cp:coreProperties>
</file>